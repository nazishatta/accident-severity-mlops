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00000"/>
                </a:solidFill>
                <a:latin typeface="Arial"/>
              </a:defRPr>
            </a:pPr>
            <a:r>
              <a:rPr sz="1400" b="0" i="0" u="none" strike="noStrike">
                <a:solidFill>
                  <a:srgbClr val="000000"/>
                </a:solidFill>
                <a:latin typeface="Arial"/>
              </a:rPr>
              <a:t>Weighted F1 by Model</a:t>
            </a:r>
          </a:p>
        </c:rich>
      </c:tx>
      <c:overlay val="0"/>
    </c:title>
    <c:autoTitleDeleted val="0"/>
    <c:plotArea>
      <c:layout/>
      <c:barChart>
        <c:barDir val="col"/>
        <c:grouping val="clustered"/>
        <c:varyColors val="0"/>
        <c:ser>
          <c:idx val="0"/>
          <c:order val="0"/>
          <c:tx>
            <c:strRef>
              <c:f>Sheet1!$B$1</c:f>
              <c:strCache>
                <c:ptCount val="1"/>
                <c:pt idx="0">
                  <c:v>Weighted F1</c:v>
                </c:pt>
              </c:strCache>
            </c:strRef>
          </c:tx>
          <c:spPr>
            <a:solidFill>
              <a:srgbClr val="4C72B0"/>
            </a:solidFill>
            <a:effectLst/>
          </c:spPr>
          <c:invertIfNegative val="0"/>
          <c:dPt>
            <c:idx val="0"/>
            <c:invertIfNegative val="0"/>
            <c:bubble3D val="0"/>
            <c:extLst>
              <c:ext xmlns:c16="http://schemas.microsoft.com/office/drawing/2014/chart" uri="{C3380CC4-5D6E-409C-BE32-E72D297353CC}">
                <c16:uniqueId val="{00000001-B617-4884-B606-DC219017F8C2}"/>
              </c:ext>
            </c:extLst>
          </c:dPt>
          <c:dPt>
            <c:idx val="1"/>
            <c:invertIfNegative val="0"/>
            <c:bubble3D val="0"/>
            <c:spPr>
              <a:solidFill>
                <a:srgbClr val="C44E52"/>
              </a:solidFill>
              <a:effectLst/>
            </c:spPr>
            <c:extLst>
              <c:ext xmlns:c16="http://schemas.microsoft.com/office/drawing/2014/chart" uri="{C3380CC4-5D6E-409C-BE32-E72D297353CC}">
                <c16:uniqueId val="{00000003-B617-4884-B606-DC219017F8C2}"/>
              </c:ext>
            </c:extLst>
          </c:dPt>
          <c:dPt>
            <c:idx val="2"/>
            <c:invertIfNegative val="0"/>
            <c:bubble3D val="0"/>
            <c:spPr>
              <a:solidFill>
                <a:srgbClr val="DD8452"/>
              </a:solidFill>
              <a:effectLst/>
            </c:spPr>
            <c:extLst>
              <c:ext xmlns:c16="http://schemas.microsoft.com/office/drawing/2014/chart" uri="{C3380CC4-5D6E-409C-BE32-E72D297353CC}">
                <c16:uniqueId val="{00000005-B617-4884-B606-DC219017F8C2}"/>
              </c:ext>
            </c:extLst>
          </c:dPt>
          <c:dPt>
            <c:idx val="3"/>
            <c:invertIfNegative val="0"/>
            <c:bubble3D val="0"/>
            <c:spPr>
              <a:solidFill>
                <a:srgbClr val="D4A017"/>
              </a:solidFill>
              <a:effectLst/>
            </c:spPr>
            <c:extLst>
              <c:ext xmlns:c16="http://schemas.microsoft.com/office/drawing/2014/chart" uri="{C3380CC4-5D6E-409C-BE32-E72D297353CC}">
                <c16:uniqueId val="{00000007-B617-4884-B606-DC219017F8C2}"/>
              </c:ext>
            </c:extLst>
          </c:dPt>
          <c:dLbls>
            <c:numFmt formatCode="0.000" sourceLinked="0"/>
            <c:spPr>
              <a:noFill/>
              <a:ln>
                <a:noFill/>
              </a:ln>
              <a:effectLst/>
            </c:spPr>
            <c:txPr>
              <a:bodyPr/>
              <a:lstStyle/>
              <a:p>
                <a:pPr>
                  <a:defRPr sz="1200" b="0" i="0" u="none" strike="noStrike">
                    <a:solidFill>
                      <a:srgbClr val="1B1B1B"/>
                    </a:solidFill>
                    <a:latin typeface="Arial"/>
                  </a:defRPr>
                </a:pPr>
                <a:endParaRPr lang="es-PY"/>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Logistic Regression</c:v>
                </c:pt>
                <c:pt idx="1">
                  <c:v>MLP</c:v>
                </c:pt>
                <c:pt idx="2">
                  <c:v>Random Forest</c:v>
                </c:pt>
                <c:pt idx="3">
                  <c:v>LightGBM</c:v>
                </c:pt>
              </c:strCache>
            </c:strRef>
          </c:cat>
          <c:val>
            <c:numRef>
              <c:f>Sheet1!$B$2:$B$5</c:f>
              <c:numCache>
                <c:formatCode>General</c:formatCode>
                <c:ptCount val="4"/>
                <c:pt idx="0">
                  <c:v>0.51919999999999999</c:v>
                </c:pt>
                <c:pt idx="1">
                  <c:v>0.7429</c:v>
                </c:pt>
                <c:pt idx="2">
                  <c:v>0.75890000000000002</c:v>
                </c:pt>
                <c:pt idx="3">
                  <c:v>0.75949999999999995</c:v>
                </c:pt>
              </c:numCache>
            </c:numRef>
          </c:val>
          <c:extLst>
            <c:ext xmlns:c16="http://schemas.microsoft.com/office/drawing/2014/chart" uri="{C3380CC4-5D6E-409C-BE32-E72D297353CC}">
              <c16:uniqueId val="{00000008-B617-4884-B606-DC219017F8C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A"/>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1564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Our project tackles accident severity prediction using the US Accidents dataset from Kaggle — 6.9 million real records spanning 2016 to 2023. The goal is to predict how severe an accident is on a 1 to 4 scale, so emergency services can prioritize their response. We compared four different machine learning models — Logistic Regression, Random Forest, LightGBM, and a neural network. Over the next ten minutes we'll walk you through the dataset, our exploratory analysis, the cleaning and feature engineering process, the four models we trained, and our final results. Let's get started.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problem and motivation. Traffic accidents cost the United States about 340 billion dollars every year and cause more than 40,000 deaths. Faster, smarter emergency response saves lives. Our goal is to predict the severity of an accident on a four-point scale using time, location, weather, and road features. If our model can flag severe accidents quickly, emergency services know where to send resources first. But this problem is hard for three reasons. First, it's a four-class classification, not just yes or no. Second, the data is severely imbalanced — almost 80 percent of accidents are Severity 2, which biases naive models toward always predicting 2. Third, the relationships between features and severity are highly non-linear. On the right you can see the severity breakdown — Severity 1 and 4 together are less than 4 percent of the data, which makes them especially hard to learn.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introduce the dataset. We used the US Accidents dataset by Sobhan Moosavi, hosted on Kaggle. It contains 7.7 million recorded accidents from February 2016 through March 2023 across all 49 mainland US states. Each row is a single accident. The raw data has 46 columns and takes up 7.3 gigabytes in memory — that's already a challenge on free Google Colab. The features fall into six categories: time information like start and end times, location data like latitude and longitude and state, weather conditions including temperature and precipitation, road characteristics like whether the accident was at a junction or near a traffic signal, twilight indicators that show whether it happened during day or night, and finally our target — Severity, on a scale from 1 to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was a four-step pipeline. Step one: we dropped useless columns. Country had only one unique value — every row was US. End_Lat and End_Lng were missing 44 percent of the time. Wind Chill was 26 percent missing and highly correlated with Temperature, so it added little. Step two: we fixed obvious outliers. The raw data had a temperature reading of 207 degrees Fahrenheit and a wind speed of 1087 miles per hour — clearly data errors. We set those to NaN. Step three: imputation. We assumed that missing precipitation simply meant no rain was reported, so we filled it with zero. Other numeric nulls got the median, and categorical nulls got the label 'Unknown'. Step four: 743,166 rows had unparseable timestamps. Without valid start and end times we can't build any time features, so we dropped them. After all this we ended up with about 7 million clean rows across 40 columns and zero remaining nulls, dropping memory from 7.3 to 5.4 GB.</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cleaned data we engineered 23 new features in four groups. First, calendar features — extracting year, month, day, hour, day of week, quarter and week of year from the timestamps. Second, behavioral flags — is it a weekend, is it morning rush hour, evening rush hour, business hours, or night-time? Third, categorical buckets — we used pandas cut to vectorize part of day and season, which is much faster than apply on 7 million rows. Fourth, and most importantly, cyclical encoding using sine and cosine. This is critical because hour 23 and hour 0 are one hour apart in real life, but a model would treat them as 23 hours apart numerically. Sine and cosine make the cycle continuous. We applied the same trick to day of week and month. We also computed accident duration in minutes and capped it at the 99th percentile — about 13 hours — which is a data-driven cutoff rather than a guess. Final shape going into modeling: 6.9 million rows by 63 columns.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exploratory data analysis. The top-left chart shows our target distribution. As we mentioned, Severity 2 is the dominant class at 77.6 percent. Severity 1 and 4 are extremely rare. This imbalance is the single biggest challenge of this project. The top-right chart shows accidents over time. There's a clear upward trend from 2016 to 2021, likely reflecting better data collection rather than more accidents. The drop in 2023 is just because the dataset ends in March. The bottom row shows time of day patterns. There are two clear peaks — around 8 in the morning and 5 in the evening, exactly the rush hours we engineered features for. Weekends, days 5 and 6, have noticeably fewer accidents than weekdays. Mornings are the busiest part of the day. These patterns confirmed that our time-based features should carry real predictive signal.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Geographic analysis shows that California, Florida, and Texas dominate the dataset — together they make up nearly half of all accidents. This partly reflects population but also reporting bias from the data sources. Houston, Miami, and Los Angeles top the city ranking. On the weather side, temperature follows a roughly normal distribution centered near 60 degrees Fahrenheit. We noticed a suspicious spike at exactly 10 miles for visibility — this is a default value used when visibility wasn't actually recorded, something we want any future iteration to be careful about. Pressure peaks tightly around 30 inches of mercury, which is normal atmospheric pressure. Precipitation is overwhelmingly zero — most accidents happen in dry conditions, not in storms. Duration is heavily right-skewed — most accidents resolve within an hour, but a long tail of multi-hour events exists, which is why we capped at the 99th percentile.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 features matter. Junctions are the most dangerous — when an accident happens at an intersection, it's on average more severe. Railway crossings and traffic signals also correlate with higher severity. This makes intuitive sense: complex road geometry leads to worse outcomes. The correlation heatmap on the right tells an important story. Severity has very weak linear correlations with every individual feature — no single feature explains severity well. This is the single biggest takeaway from EDA: simple linear models will struggle, and we need non-linear models to capture the interactions. We can also see the cyclical features doing exactly what they should — hour_sin and hour_cos are uncorrelated with start_hour itself, providing genuinely new signal.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methodology. Our pipeline follows six stages, shown across the top. After loading, cleaning, and feature engineering, we sampled and encoded the data, trained four models with grid-search hyperparameter tuning, and finally compared them. The key methodological choice was how to handle class imbalance. We deliberately chose class weights, set to 'balanced', over undersampling. Undersampling would have thrown away 96 percent of our data — over 5 million real Severity 2 patterns. Class weights tell the model that mistakes on rare classes cost more, without losing any data. The proof is in our final results — LightGBM achieves 95 percent recall on the rarest class, Severity 1. On the evaluation side, we used a stratified 80/20 train-test split with 3-fold cross validation during GridSearch. We trained on 100,000 rows for the lighter models and 500,000 for LightGBM. Our primary metric is weighted F1 score, not accuracy. Accuracy is misleading here — a naive model predicting Severity 2 every time would hit 79.7 percent accuracy and be completely useless. F1 balances precision and recall, and we also report per-class recall because in a safety system, missing a severe accident is much worse than a false alarm.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Logistic Regression — the baseline. It's linear, fully interpretable, and trains in seconds. We tuned the regularization strength C and used class weights set to balanced. It scored 0.52 on weighted F1. That's not great, but it's exactly what we expected. The huge gap between Severity 2's F1 of 0.54 and Severity 1's F1 of just 0.12 shows that linear decision boundaries can't capture the relationships in this dataset. But this isn't a failure — it's the most important baseline. The 0.52 number is what the next three models need to beat, and all of them did. Logistic Regression proved that we needed non-linear models, which justifies everything that follows.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two: Random Forest. We tuned the number of trees and maximum depth, ending up with 200 trees of depth 15. Random Forest jumped to 0.76 weighted F1 — a 0.24 improvement over Logistic Regression, which is a massive gain. The Severity 1 F1 went from 0.12 to 0.48, and Severity 2 hit 0.82. The interesting story is the precision-recall tradeoff. Random Forest is more conservative than Logistic Regression — its precision is much better, but it misses some Severity 4 cases that LR caught. That's normal behavior for ensemble methods. Important caveat: Random Forest is memory-heavy. Each tree stores the full structure, so we couldn't push it to 500,000 rows without crashing on free Colab. That's why our final winner — LightGBM — is even stronger because it could train on five times more data.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three is LightGBM — and it's our winner. LightGBM is gradient-boosted decision trees. It's specifically designed for tabular data and is the industry standard for problems like ours. Critically, it's much more memory-efficient than Random Forest, so we could train it on five hundred thousand rows — five times more data. After GridSearch the best configuration came back as learning rate 0.1, 63 leaves, max depth 6. The weighted F1 was 0.76 — slightly above Random Forest. But the real story isn't the headline F1 — it's the per-class recall. LightGBM finds 95 percent of Severity 1 accidents and 80 percent of Severity 4 accidents. In a real safety system this is what matters: you want to find the dangerous events, even if you have some false alarms. This is why LightGBM wins — not just on raw F1, but on the metrics that actually matter for emergency response.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and final model is a Multi-Layer Perceptron — a neural network. We tested it specifically to see whether deep learning could beat the tree-based models on this structured tabular data. We used a small architecture, two hidden layers of 128 and 64 neurons, ReLU activation, with early stopping. Because scikit-learn's MLPClassifier doesn't support class weights directly, we upsampled the training data manually so each class had equal representation. The MLP scored 0.74 — competitive with Random Forest but below LightGBM. Most importantly, it underperforms LightGBM on every minority class metric: Severity 1 F1 of 0.43 versus LightGBM's 0.50, and Severity 4 F1 of 0.21 versus LightGBM's 0.29. This confirms a well-known finding in machine learning research: gradient boosting consistently beats neural networks on structured tabular data. Neural nets shine on images, text, and sequences — but for problems like ours, trees are the right tool.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full comparison. The bar chart on the left shows weighted F1 — LightGBM at 0.7595 narrowly edging out Random Forest at 0.7589, with MLP at 0.7429 and Logistic Regression far behind at 0.5192. But the gold-highlighted column on the right tells the real story. LightGBM has the best F1 on rare class Severity 1 — 0.50 — and ties for best on Severity 4. It also trained on 500,000 rows, five times more data than Random Forest. Four key takeaways. First, the gap between Logistic Regression and the others proves this is fundamentally a non-linear problem. Second, the tree-based models all cluster tightly around 0.76 — they extract similar signal from the data. Third, LightGBM gets the win partly through algorithmic strength and partly through training on more data. And fourth, gradient boosting consistently outperforms neural networks on structured tabular problems — a finding that matches the broader machine learning literature.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honest project should acknowledge its limits. First, free Google Colab RAM forced us to cap our biggest sample at 500,000 rows — about 7 percent of the full dataset. Second, our GridSearch was deliberately small to fit within session time limits. Third, Severity 4 remains hard to predict across all models because there are only 60,000 examples and the boundary between Severity 3 and 4 is inherently subjective. Fourth, we noticed a spike at 10 miles for visibility that suggests the data source uses 10 as a default when it doesn't really know. And fifth, we don't have driver or vehicle information — those are likely strong predictors that no model in this project can access. For future work — running on cloud compute would unlock the full 6.9 million rows. Optuna with 100 or more trials would likely push F1 above 0.80. SMOTE specifically targeted at Severity 1 and 4 could help minority class performance. A stacking ensemble combining LightGBM and Random Forest is a natural next step. Mining the free-text Description column with NLP could reveal crash characteristics we're currently throwing away. And encoding road segments by historical accident risk would add powerful geographic context.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 four conclusions. One: the problem is non-linear. The gap between Logistic Regression and LightGBM proves this dataset has rich interactions that linear models cannot capture. Two: choosing the right metric matters. Accuracy alone would have made our work look much better than it really is. Weighted F1 combined with per-class recall is what tells us a model is actually useful for emergency response. Three: LightGBM wins. It has the highest weighted F1, the best recall on the safety-critical rare classes, and confirms the broader research finding that gradient boosting outperforms neural networks on tabular data. Four: class weights are better than undersampling for our problem. We kept all the real signal in our 6.9 million rows and still achieved balanced minority-class performance. Our final answer: LightGBM, with balanced class weights, is the model we'd put into production. Thank you — we'd be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We're happy to take any questions about our methodology, the cleaning decisions, the choice of class weights over undersampling, or any of the model results.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EE6C4D"/>
          </a:solidFill>
          <a:ln/>
        </p:spPr>
        <p:txBody>
          <a:bodyPr/>
          <a:lstStyle/>
          <a:p>
            <a:endParaRPr lang="es-PY"/>
          </a:p>
        </p:txBody>
      </p:sp>
      <p:sp>
        <p:nvSpPr>
          <p:cNvPr id="3" name="Text 1"/>
          <p:cNvSpPr/>
          <p:nvPr/>
        </p:nvSpPr>
        <p:spPr>
          <a:xfrm>
            <a:off x="731520" y="1828800"/>
            <a:ext cx="10972800" cy="1097280"/>
          </a:xfrm>
          <a:prstGeom prst="rect">
            <a:avLst/>
          </a:prstGeom>
          <a:noFill/>
          <a:ln/>
        </p:spPr>
        <p:txBody>
          <a:bodyPr wrap="square" lIns="0" tIns="0" rIns="0" bIns="0" rtlCol="0" anchor="ctr"/>
          <a:lstStyle/>
          <a:p>
            <a:pPr marL="0" indent="0">
              <a:buNone/>
            </a:pPr>
            <a:r>
              <a:rPr lang="en-US" sz="4800" b="1" dirty="0">
                <a:solidFill>
                  <a:srgbClr val="FFFFFF"/>
                </a:solidFill>
                <a:latin typeface="Georgia" pitchFamily="34" charset="0"/>
                <a:ea typeface="Georgia" pitchFamily="34" charset="-122"/>
                <a:cs typeface="Georgia" pitchFamily="34" charset="-120"/>
              </a:rPr>
              <a:t>Predicting US Accident Severity</a:t>
            </a:r>
            <a:endParaRPr lang="en-US" sz="4800" dirty="0"/>
          </a:p>
        </p:txBody>
      </p:sp>
      <p:sp>
        <p:nvSpPr>
          <p:cNvPr id="4" name="Text 2"/>
          <p:cNvSpPr/>
          <p:nvPr/>
        </p:nvSpPr>
        <p:spPr>
          <a:xfrm>
            <a:off x="731520" y="2926080"/>
            <a:ext cx="10972800" cy="54864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A Machine Learning Comparison on 6.9M Real-World Records</a:t>
            </a:r>
            <a:endParaRPr lang="en-US" sz="2200" dirty="0"/>
          </a:p>
        </p:txBody>
      </p:sp>
      <p:sp>
        <p:nvSpPr>
          <p:cNvPr id="5" name="Text 3"/>
          <p:cNvSpPr/>
          <p:nvPr/>
        </p:nvSpPr>
        <p:spPr>
          <a:xfrm>
            <a:off x="731520" y="3840480"/>
            <a:ext cx="10972800" cy="731520"/>
          </a:xfrm>
          <a:prstGeom prst="rect">
            <a:avLst/>
          </a:prstGeom>
          <a:noFill/>
          <a:ln/>
        </p:spPr>
        <p:txBody>
          <a:bodyPr wrap="square" lIns="0" tIns="0" rIns="0" bIns="0" rtlCol="0" anchor="ctr"/>
          <a:lstStyle/>
          <a:p>
            <a:pPr marL="0" indent="0">
              <a:buNone/>
            </a:pPr>
            <a:r>
              <a:rPr lang="en-US" sz="3600" b="1" dirty="0">
                <a:solidFill>
                  <a:srgbClr val="EE6C4D"/>
                </a:solidFill>
                <a:latin typeface="Calibri" pitchFamily="34" charset="0"/>
                <a:ea typeface="Calibri" pitchFamily="34" charset="-122"/>
                <a:cs typeface="Calibri" pitchFamily="34" charset="-120"/>
              </a:rPr>
              <a:t>6.9M</a:t>
            </a:r>
            <a:r>
              <a:rPr lang="en-US" sz="1400" dirty="0">
                <a:solidFill>
                  <a:srgbClr val="CADCFC"/>
                </a:solidFill>
                <a:latin typeface="Calibri" pitchFamily="34" charset="0"/>
                <a:ea typeface="Calibri" pitchFamily="34" charset="-122"/>
                <a:cs typeface="Calibri" pitchFamily="34" charset="-120"/>
              </a:rPr>
              <a:t>  records   </a:t>
            </a:r>
            <a:r>
              <a:rPr lang="en-US" sz="1400" dirty="0">
                <a:solidFill>
                  <a:srgbClr val="5C6B7A"/>
                </a:solidFill>
                <a:latin typeface="Calibri" pitchFamily="34" charset="0"/>
                <a:ea typeface="Calibri" pitchFamily="34" charset="-122"/>
                <a:cs typeface="Calibri" pitchFamily="34" charset="-120"/>
              </a:rPr>
              <a:t>  •  </a:t>
            </a:r>
            <a:r>
              <a:rPr lang="en-US" sz="3600" b="1" dirty="0">
                <a:solidFill>
                  <a:srgbClr val="EE6C4D"/>
                </a:solidFill>
                <a:latin typeface="Calibri" pitchFamily="34" charset="0"/>
                <a:ea typeface="Calibri" pitchFamily="34" charset="-122"/>
                <a:cs typeface="Calibri" pitchFamily="34" charset="-120"/>
              </a:rPr>
              <a:t>63</a:t>
            </a:r>
            <a:r>
              <a:rPr lang="en-US" sz="1400" dirty="0">
                <a:solidFill>
                  <a:srgbClr val="CADCFC"/>
                </a:solidFill>
                <a:latin typeface="Calibri" pitchFamily="34" charset="0"/>
                <a:ea typeface="Calibri" pitchFamily="34" charset="-122"/>
                <a:cs typeface="Calibri" pitchFamily="34" charset="-120"/>
              </a:rPr>
              <a:t>  features   </a:t>
            </a:r>
            <a:r>
              <a:rPr lang="en-US" sz="1400" dirty="0">
                <a:solidFill>
                  <a:srgbClr val="5C6B7A"/>
                </a:solidFill>
                <a:latin typeface="Calibri" pitchFamily="34" charset="0"/>
                <a:ea typeface="Calibri" pitchFamily="34" charset="-122"/>
                <a:cs typeface="Calibri" pitchFamily="34" charset="-120"/>
              </a:rPr>
              <a:t>  •  </a:t>
            </a:r>
            <a:r>
              <a:rPr lang="en-US" sz="3600" b="1" dirty="0">
                <a:solidFill>
                  <a:srgbClr val="EE6C4D"/>
                </a:solidFill>
                <a:latin typeface="Calibri" pitchFamily="34" charset="0"/>
                <a:ea typeface="Calibri" pitchFamily="34" charset="-122"/>
                <a:cs typeface="Calibri" pitchFamily="34" charset="-120"/>
              </a:rPr>
              <a:t>4</a:t>
            </a:r>
            <a:r>
              <a:rPr lang="en-US" sz="1400" dirty="0">
                <a:solidFill>
                  <a:srgbClr val="CADCFC"/>
                </a:solidFill>
                <a:latin typeface="Calibri" pitchFamily="34" charset="0"/>
                <a:ea typeface="Calibri" pitchFamily="34" charset="-122"/>
                <a:cs typeface="Calibri" pitchFamily="34" charset="-120"/>
              </a:rPr>
              <a:t>  models   </a:t>
            </a:r>
            <a:endParaRPr lang="en-US" sz="3600" dirty="0"/>
          </a:p>
        </p:txBody>
      </p:sp>
      <p:sp>
        <p:nvSpPr>
          <p:cNvPr id="6" name="Text 4"/>
          <p:cNvSpPr/>
          <p:nvPr/>
        </p:nvSpPr>
        <p:spPr>
          <a:xfrm>
            <a:off x="731520" y="5943600"/>
            <a:ext cx="10972800" cy="36576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DATS 6202 — Machine Learning I  |  Spring 2026  |  Final Project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01 / INTRODUCTION</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Introduction &amp; Problem</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5486400" cy="4846320"/>
          </a:xfrm>
          <a:prstGeom prst="rect">
            <a:avLst/>
          </a:prstGeom>
          <a:solidFill>
            <a:srgbClr val="FFFFFF"/>
          </a:solidFill>
          <a:ln w="12700">
            <a:solidFill>
              <a:srgbClr val="E5E7EB"/>
            </a:solidFill>
            <a:prstDash val="solid"/>
          </a:ln>
          <a:effectLst>
            <a:outerShdw blurRad="101600" dist="25400" dir="5400000" algn="bl" rotWithShape="0">
              <a:srgbClr val="000000">
                <a:alpha val="6000"/>
              </a:srgbClr>
            </a:outerShdw>
          </a:effectLst>
        </p:spPr>
        <p:txBody>
          <a:bodyPr/>
          <a:lstStyle/>
          <a:p>
            <a:endParaRPr lang="es-PY"/>
          </a:p>
        </p:txBody>
      </p:sp>
      <p:sp>
        <p:nvSpPr>
          <p:cNvPr id="6" name="Shape 4"/>
          <p:cNvSpPr/>
          <p:nvPr/>
        </p:nvSpPr>
        <p:spPr>
          <a:xfrm>
            <a:off x="457200" y="1371600"/>
            <a:ext cx="91440" cy="4846320"/>
          </a:xfrm>
          <a:prstGeom prst="rect">
            <a:avLst/>
          </a:prstGeom>
          <a:solidFill>
            <a:srgbClr val="EE6C4D"/>
          </a:solidFill>
          <a:ln/>
        </p:spPr>
        <p:txBody>
          <a:bodyPr/>
          <a:lstStyle/>
          <a:p>
            <a:endParaRPr lang="es-PY"/>
          </a:p>
        </p:txBody>
      </p:sp>
      <p:sp>
        <p:nvSpPr>
          <p:cNvPr id="7" name="Text 5"/>
          <p:cNvSpPr/>
          <p:nvPr/>
        </p:nvSpPr>
        <p:spPr>
          <a:xfrm>
            <a:off x="731520" y="1554480"/>
            <a:ext cx="50292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THE PROBLEM</a:t>
            </a:r>
            <a:endParaRPr lang="en-US" sz="1200" dirty="0"/>
          </a:p>
        </p:txBody>
      </p:sp>
      <p:sp>
        <p:nvSpPr>
          <p:cNvPr id="8" name="Text 6"/>
          <p:cNvSpPr/>
          <p:nvPr/>
        </p:nvSpPr>
        <p:spPr>
          <a:xfrm>
            <a:off x="731520" y="1920240"/>
            <a:ext cx="5029200" cy="822960"/>
          </a:xfrm>
          <a:prstGeom prst="rect">
            <a:avLst/>
          </a:prstGeom>
          <a:noFill/>
          <a:ln/>
        </p:spPr>
        <p:txBody>
          <a:bodyPr wrap="square" lIns="0" tIns="0" rIns="0" bIns="0" rtlCol="0" anchor="ctr"/>
          <a:lstStyle/>
          <a:p>
            <a:pPr marL="0" indent="0">
              <a:buNone/>
            </a:pPr>
            <a:r>
              <a:rPr lang="en-US" sz="1600" dirty="0">
                <a:solidFill>
                  <a:srgbClr val="1B1B1B"/>
                </a:solidFill>
                <a:latin typeface="Calibri" pitchFamily="34" charset="0"/>
                <a:ea typeface="Calibri" pitchFamily="34" charset="-122"/>
                <a:cs typeface="Calibri" pitchFamily="34" charset="-120"/>
              </a:rPr>
              <a:t>Traffic accidents cost the US </a:t>
            </a:r>
            <a:r>
              <a:rPr lang="en-US" sz="1600" b="1" dirty="0">
                <a:solidFill>
                  <a:srgbClr val="0B2545"/>
                </a:solidFill>
                <a:latin typeface="Calibri" pitchFamily="34" charset="0"/>
                <a:ea typeface="Calibri" pitchFamily="34" charset="-122"/>
                <a:cs typeface="Calibri" pitchFamily="34" charset="-120"/>
              </a:rPr>
              <a:t>$340 billion</a:t>
            </a:r>
            <a:r>
              <a:rPr lang="en-US" sz="1600" dirty="0">
                <a:solidFill>
                  <a:srgbClr val="1B1B1B"/>
                </a:solidFill>
                <a:latin typeface="Calibri" pitchFamily="34" charset="0"/>
                <a:ea typeface="Calibri" pitchFamily="34" charset="-122"/>
                <a:cs typeface="Calibri" pitchFamily="34" charset="-120"/>
              </a:rPr>
              <a:t> annually and cause over 40,000 deaths.</a:t>
            </a:r>
            <a:endParaRPr lang="en-US" sz="1600" dirty="0"/>
          </a:p>
        </p:txBody>
      </p:sp>
      <p:sp>
        <p:nvSpPr>
          <p:cNvPr id="9" name="Text 7"/>
          <p:cNvSpPr/>
          <p:nvPr/>
        </p:nvSpPr>
        <p:spPr>
          <a:xfrm>
            <a:off x="731520" y="2834640"/>
            <a:ext cx="50292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OUR GOAL</a:t>
            </a:r>
            <a:endParaRPr lang="en-US" sz="1200" dirty="0"/>
          </a:p>
        </p:txBody>
      </p:sp>
      <p:sp>
        <p:nvSpPr>
          <p:cNvPr id="10" name="Text 8"/>
          <p:cNvSpPr/>
          <p:nvPr/>
        </p:nvSpPr>
        <p:spPr>
          <a:xfrm>
            <a:off x="731520" y="3200400"/>
            <a:ext cx="5029200" cy="1280160"/>
          </a:xfrm>
          <a:prstGeom prst="rect">
            <a:avLst/>
          </a:prstGeom>
          <a:noFill/>
          <a:ln/>
        </p:spPr>
        <p:txBody>
          <a:bodyPr wrap="square" lIns="0" tIns="0" rIns="0" bIns="0" rtlCol="0" anchor="ctr"/>
          <a:lstStyle/>
          <a:p>
            <a:pPr marL="0" indent="0">
              <a:buNone/>
            </a:pPr>
            <a:r>
              <a:rPr lang="en-US" sz="1600" dirty="0">
                <a:solidFill>
                  <a:srgbClr val="1B1B1B"/>
                </a:solidFill>
                <a:latin typeface="Calibri" pitchFamily="34" charset="0"/>
                <a:ea typeface="Calibri" pitchFamily="34" charset="-122"/>
                <a:cs typeface="Calibri" pitchFamily="34" charset="-120"/>
              </a:rPr>
              <a:t>Predict accident severity (1=minor → 4=severe) from time, location, weather, and road features so emergency services can prioritize response.</a:t>
            </a:r>
            <a:endParaRPr lang="en-US" sz="1600" dirty="0"/>
          </a:p>
        </p:txBody>
      </p:sp>
      <p:sp>
        <p:nvSpPr>
          <p:cNvPr id="11" name="Text 9"/>
          <p:cNvSpPr/>
          <p:nvPr/>
        </p:nvSpPr>
        <p:spPr>
          <a:xfrm>
            <a:off x="731520" y="4480560"/>
            <a:ext cx="50292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WHY IT'S HARD</a:t>
            </a:r>
            <a:endParaRPr lang="en-US" sz="1200" dirty="0"/>
          </a:p>
        </p:txBody>
      </p:sp>
      <p:sp>
        <p:nvSpPr>
          <p:cNvPr id="12" name="Text 10"/>
          <p:cNvSpPr/>
          <p:nvPr/>
        </p:nvSpPr>
        <p:spPr>
          <a:xfrm>
            <a:off x="731520" y="4846320"/>
            <a:ext cx="5029200" cy="128016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rgbClr val="1B1B1B"/>
                </a:solidFill>
                <a:latin typeface="Calibri" pitchFamily="34" charset="0"/>
                <a:ea typeface="Calibri" pitchFamily="34" charset="-122"/>
                <a:cs typeface="Calibri" pitchFamily="34" charset="-120"/>
              </a:rPr>
              <a:t>4-class classification problem</a:t>
            </a:r>
            <a:endParaRPr lang="en-US" sz="1400" dirty="0"/>
          </a:p>
          <a:p>
            <a:pPr marL="342900" indent="-342900">
              <a:spcAft>
                <a:spcPts val="400"/>
              </a:spcAft>
              <a:buSzPct val="100000"/>
              <a:buChar char="•"/>
            </a:pPr>
            <a:r>
              <a:rPr lang="en-US" sz="1400" dirty="0">
                <a:solidFill>
                  <a:srgbClr val="1B1B1B"/>
                </a:solidFill>
                <a:latin typeface="Calibri" pitchFamily="34" charset="0"/>
                <a:ea typeface="Calibri" pitchFamily="34" charset="-122"/>
                <a:cs typeface="Calibri" pitchFamily="34" charset="-120"/>
              </a:rPr>
              <a:t>Severe class imbalance (79.7% are Severity 2)</a:t>
            </a:r>
            <a:endParaRPr lang="en-US" sz="1400" dirty="0"/>
          </a:p>
          <a:p>
            <a:pPr marL="342900" indent="-342900">
              <a:spcAft>
                <a:spcPts val="400"/>
              </a:spcAft>
              <a:buSzPct val="100000"/>
              <a:buChar char="•"/>
            </a:pPr>
            <a:r>
              <a:rPr lang="en-US" sz="1400" dirty="0">
                <a:solidFill>
                  <a:srgbClr val="1B1B1B"/>
                </a:solidFill>
                <a:latin typeface="Calibri" pitchFamily="34" charset="0"/>
                <a:ea typeface="Calibri" pitchFamily="34" charset="-122"/>
                <a:cs typeface="Calibri" pitchFamily="34" charset="-120"/>
              </a:rPr>
              <a:t>Non-linear relationships between features</a:t>
            </a:r>
            <a:endParaRPr lang="en-US" sz="1400" dirty="0"/>
          </a:p>
        </p:txBody>
      </p:sp>
      <p:sp>
        <p:nvSpPr>
          <p:cNvPr id="13" name="Shape 11"/>
          <p:cNvSpPr/>
          <p:nvPr/>
        </p:nvSpPr>
        <p:spPr>
          <a:xfrm>
            <a:off x="6400800" y="1371600"/>
            <a:ext cx="5303520" cy="4846320"/>
          </a:xfrm>
          <a:prstGeom prst="rect">
            <a:avLst/>
          </a:prstGeom>
          <a:solidFill>
            <a:srgbClr val="0B2545"/>
          </a:solidFill>
          <a:ln/>
        </p:spPr>
        <p:txBody>
          <a:bodyPr/>
          <a:lstStyle/>
          <a:p>
            <a:endParaRPr lang="es-PY"/>
          </a:p>
        </p:txBody>
      </p:sp>
      <p:sp>
        <p:nvSpPr>
          <p:cNvPr id="14" name="Text 12"/>
          <p:cNvSpPr/>
          <p:nvPr/>
        </p:nvSpPr>
        <p:spPr>
          <a:xfrm>
            <a:off x="6675120" y="1554480"/>
            <a:ext cx="484632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SEVERITY SCALE</a:t>
            </a:r>
            <a:endParaRPr lang="en-US" sz="1200" dirty="0"/>
          </a:p>
        </p:txBody>
      </p:sp>
      <p:sp>
        <p:nvSpPr>
          <p:cNvPr id="15" name="Shape 13"/>
          <p:cNvSpPr/>
          <p:nvPr/>
        </p:nvSpPr>
        <p:spPr>
          <a:xfrm>
            <a:off x="6675120" y="2103120"/>
            <a:ext cx="640080" cy="640080"/>
          </a:xfrm>
          <a:prstGeom prst="ellipse">
            <a:avLst/>
          </a:prstGeom>
          <a:solidFill>
            <a:srgbClr val="55A868"/>
          </a:solidFill>
          <a:ln/>
        </p:spPr>
        <p:txBody>
          <a:bodyPr/>
          <a:lstStyle/>
          <a:p>
            <a:endParaRPr lang="es-PY"/>
          </a:p>
        </p:txBody>
      </p:sp>
      <p:sp>
        <p:nvSpPr>
          <p:cNvPr id="16" name="Text 14"/>
          <p:cNvSpPr/>
          <p:nvPr/>
        </p:nvSpPr>
        <p:spPr>
          <a:xfrm>
            <a:off x="6675120" y="21031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7" name="Text 15"/>
          <p:cNvSpPr/>
          <p:nvPr/>
        </p:nvSpPr>
        <p:spPr>
          <a:xfrm>
            <a:off x="7498080" y="2103120"/>
            <a:ext cx="320040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Minor — short delay, no injuries</a:t>
            </a:r>
            <a:endParaRPr lang="en-US" sz="1400" dirty="0"/>
          </a:p>
        </p:txBody>
      </p:sp>
      <p:sp>
        <p:nvSpPr>
          <p:cNvPr id="18" name="Text 16"/>
          <p:cNvSpPr/>
          <p:nvPr/>
        </p:nvSpPr>
        <p:spPr>
          <a:xfrm>
            <a:off x="7498080" y="2468880"/>
            <a:ext cx="320040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of dataset</a:t>
            </a:r>
            <a:endParaRPr lang="en-US" sz="1000" dirty="0"/>
          </a:p>
        </p:txBody>
      </p:sp>
      <p:sp>
        <p:nvSpPr>
          <p:cNvPr id="19" name="Text 17"/>
          <p:cNvSpPr/>
          <p:nvPr/>
        </p:nvSpPr>
        <p:spPr>
          <a:xfrm>
            <a:off x="10698480" y="2103120"/>
            <a:ext cx="914400" cy="640080"/>
          </a:xfrm>
          <a:prstGeom prst="rect">
            <a:avLst/>
          </a:prstGeom>
          <a:noFill/>
          <a:ln/>
        </p:spPr>
        <p:txBody>
          <a:bodyPr wrap="square" lIns="0" tIns="0" rIns="0" bIns="0" rtlCol="0" anchor="ctr"/>
          <a:lstStyle/>
          <a:p>
            <a:pPr marL="0" indent="0" algn="r">
              <a:buNone/>
            </a:pPr>
            <a:r>
              <a:rPr lang="en-US" sz="1800" b="1" dirty="0">
                <a:solidFill>
                  <a:srgbClr val="EE6C4D"/>
                </a:solidFill>
                <a:latin typeface="Calibri" pitchFamily="34" charset="0"/>
                <a:ea typeface="Calibri" pitchFamily="34" charset="-122"/>
                <a:cs typeface="Calibri" pitchFamily="34" charset="-120"/>
              </a:rPr>
              <a:t>0.97%</a:t>
            </a:r>
            <a:endParaRPr lang="en-US" sz="1800" dirty="0"/>
          </a:p>
        </p:txBody>
      </p:sp>
      <p:sp>
        <p:nvSpPr>
          <p:cNvPr id="20" name="Shape 18"/>
          <p:cNvSpPr/>
          <p:nvPr/>
        </p:nvSpPr>
        <p:spPr>
          <a:xfrm>
            <a:off x="6675120" y="3017520"/>
            <a:ext cx="640080" cy="640080"/>
          </a:xfrm>
          <a:prstGeom prst="ellipse">
            <a:avLst/>
          </a:prstGeom>
          <a:solidFill>
            <a:srgbClr val="4C72B0"/>
          </a:solidFill>
          <a:ln/>
        </p:spPr>
        <p:txBody>
          <a:bodyPr/>
          <a:lstStyle/>
          <a:p>
            <a:endParaRPr lang="es-PY"/>
          </a:p>
        </p:txBody>
      </p:sp>
      <p:sp>
        <p:nvSpPr>
          <p:cNvPr id="21" name="Text 19"/>
          <p:cNvSpPr/>
          <p:nvPr/>
        </p:nvSpPr>
        <p:spPr>
          <a:xfrm>
            <a:off x="6675120" y="30175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22" name="Text 20"/>
          <p:cNvSpPr/>
          <p:nvPr/>
        </p:nvSpPr>
        <p:spPr>
          <a:xfrm>
            <a:off x="7498080" y="3017520"/>
            <a:ext cx="320040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Moderate — typical accident</a:t>
            </a:r>
            <a:endParaRPr lang="en-US" sz="1400" dirty="0"/>
          </a:p>
        </p:txBody>
      </p:sp>
      <p:sp>
        <p:nvSpPr>
          <p:cNvPr id="23" name="Text 21"/>
          <p:cNvSpPr/>
          <p:nvPr/>
        </p:nvSpPr>
        <p:spPr>
          <a:xfrm>
            <a:off x="7498080" y="3383280"/>
            <a:ext cx="320040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of dataset</a:t>
            </a:r>
            <a:endParaRPr lang="en-US" sz="1000" dirty="0"/>
          </a:p>
        </p:txBody>
      </p:sp>
      <p:sp>
        <p:nvSpPr>
          <p:cNvPr id="24" name="Text 22"/>
          <p:cNvSpPr/>
          <p:nvPr/>
        </p:nvSpPr>
        <p:spPr>
          <a:xfrm>
            <a:off x="10698480" y="3017520"/>
            <a:ext cx="914400" cy="640080"/>
          </a:xfrm>
          <a:prstGeom prst="rect">
            <a:avLst/>
          </a:prstGeom>
          <a:noFill/>
          <a:ln/>
        </p:spPr>
        <p:txBody>
          <a:bodyPr wrap="square" lIns="0" tIns="0" rIns="0" bIns="0" rtlCol="0" anchor="ctr"/>
          <a:lstStyle/>
          <a:p>
            <a:pPr marL="0" indent="0" algn="r">
              <a:buNone/>
            </a:pPr>
            <a:r>
              <a:rPr lang="en-US" sz="1800" b="1" dirty="0">
                <a:solidFill>
                  <a:srgbClr val="EE6C4D"/>
                </a:solidFill>
                <a:latin typeface="Calibri" pitchFamily="34" charset="0"/>
                <a:ea typeface="Calibri" pitchFamily="34" charset="-122"/>
                <a:cs typeface="Calibri" pitchFamily="34" charset="-120"/>
              </a:rPr>
              <a:t>77.6%</a:t>
            </a:r>
            <a:endParaRPr lang="en-US" sz="1800" dirty="0"/>
          </a:p>
        </p:txBody>
      </p:sp>
      <p:sp>
        <p:nvSpPr>
          <p:cNvPr id="25" name="Shape 23"/>
          <p:cNvSpPr/>
          <p:nvPr/>
        </p:nvSpPr>
        <p:spPr>
          <a:xfrm>
            <a:off x="6675120" y="3931920"/>
            <a:ext cx="640080" cy="640080"/>
          </a:xfrm>
          <a:prstGeom prst="ellipse">
            <a:avLst/>
          </a:prstGeom>
          <a:solidFill>
            <a:srgbClr val="DD8452"/>
          </a:solidFill>
          <a:ln/>
        </p:spPr>
        <p:txBody>
          <a:bodyPr/>
          <a:lstStyle/>
          <a:p>
            <a:endParaRPr lang="es-PY"/>
          </a:p>
        </p:txBody>
      </p:sp>
      <p:sp>
        <p:nvSpPr>
          <p:cNvPr id="26" name="Text 24"/>
          <p:cNvSpPr/>
          <p:nvPr/>
        </p:nvSpPr>
        <p:spPr>
          <a:xfrm>
            <a:off x="6675120" y="39319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7498080" y="3931920"/>
            <a:ext cx="320040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Significant — major delay, injuries</a:t>
            </a:r>
            <a:endParaRPr lang="en-US" sz="1400" dirty="0"/>
          </a:p>
        </p:txBody>
      </p:sp>
      <p:sp>
        <p:nvSpPr>
          <p:cNvPr id="28" name="Text 26"/>
          <p:cNvSpPr/>
          <p:nvPr/>
        </p:nvSpPr>
        <p:spPr>
          <a:xfrm>
            <a:off x="7498080" y="4297680"/>
            <a:ext cx="320040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of dataset</a:t>
            </a:r>
            <a:endParaRPr lang="en-US" sz="1000" dirty="0"/>
          </a:p>
        </p:txBody>
      </p:sp>
      <p:sp>
        <p:nvSpPr>
          <p:cNvPr id="29" name="Text 27"/>
          <p:cNvSpPr/>
          <p:nvPr/>
        </p:nvSpPr>
        <p:spPr>
          <a:xfrm>
            <a:off x="10698480" y="3931920"/>
            <a:ext cx="914400" cy="640080"/>
          </a:xfrm>
          <a:prstGeom prst="rect">
            <a:avLst/>
          </a:prstGeom>
          <a:noFill/>
          <a:ln/>
        </p:spPr>
        <p:txBody>
          <a:bodyPr wrap="square" lIns="0" tIns="0" rIns="0" bIns="0" rtlCol="0" anchor="ctr"/>
          <a:lstStyle/>
          <a:p>
            <a:pPr marL="0" indent="0" algn="r">
              <a:buNone/>
            </a:pPr>
            <a:r>
              <a:rPr lang="en-US" sz="1800" b="1" dirty="0">
                <a:solidFill>
                  <a:srgbClr val="EE6C4D"/>
                </a:solidFill>
                <a:latin typeface="Calibri" pitchFamily="34" charset="0"/>
                <a:ea typeface="Calibri" pitchFamily="34" charset="-122"/>
                <a:cs typeface="Calibri" pitchFamily="34" charset="-120"/>
              </a:rPr>
              <a:t>18.8%</a:t>
            </a:r>
            <a:endParaRPr lang="en-US" sz="1800" dirty="0"/>
          </a:p>
        </p:txBody>
      </p:sp>
      <p:sp>
        <p:nvSpPr>
          <p:cNvPr id="30" name="Shape 28"/>
          <p:cNvSpPr/>
          <p:nvPr/>
        </p:nvSpPr>
        <p:spPr>
          <a:xfrm>
            <a:off x="6675120" y="4846320"/>
            <a:ext cx="640080" cy="640080"/>
          </a:xfrm>
          <a:prstGeom prst="ellipse">
            <a:avLst/>
          </a:prstGeom>
          <a:solidFill>
            <a:srgbClr val="C44E52"/>
          </a:solidFill>
          <a:ln/>
        </p:spPr>
        <p:txBody>
          <a:bodyPr/>
          <a:lstStyle/>
          <a:p>
            <a:endParaRPr lang="es-PY"/>
          </a:p>
        </p:txBody>
      </p:sp>
      <p:sp>
        <p:nvSpPr>
          <p:cNvPr id="31" name="Text 29"/>
          <p:cNvSpPr/>
          <p:nvPr/>
        </p:nvSpPr>
        <p:spPr>
          <a:xfrm>
            <a:off x="6675120" y="484632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32" name="Text 30"/>
          <p:cNvSpPr/>
          <p:nvPr/>
        </p:nvSpPr>
        <p:spPr>
          <a:xfrm>
            <a:off x="7498080" y="4846320"/>
            <a:ext cx="320040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Severe — long shutdown, fatal risk</a:t>
            </a:r>
            <a:endParaRPr lang="en-US" sz="1400" dirty="0"/>
          </a:p>
        </p:txBody>
      </p:sp>
      <p:sp>
        <p:nvSpPr>
          <p:cNvPr id="33" name="Text 31"/>
          <p:cNvSpPr/>
          <p:nvPr/>
        </p:nvSpPr>
        <p:spPr>
          <a:xfrm>
            <a:off x="7498080" y="5212080"/>
            <a:ext cx="320040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of dataset</a:t>
            </a:r>
            <a:endParaRPr lang="en-US" sz="1000" dirty="0"/>
          </a:p>
        </p:txBody>
      </p:sp>
      <p:sp>
        <p:nvSpPr>
          <p:cNvPr id="34" name="Text 32"/>
          <p:cNvSpPr/>
          <p:nvPr/>
        </p:nvSpPr>
        <p:spPr>
          <a:xfrm>
            <a:off x="10698480" y="4846320"/>
            <a:ext cx="914400" cy="640080"/>
          </a:xfrm>
          <a:prstGeom prst="rect">
            <a:avLst/>
          </a:prstGeom>
          <a:noFill/>
          <a:ln/>
        </p:spPr>
        <p:txBody>
          <a:bodyPr wrap="square" lIns="0" tIns="0" rIns="0" bIns="0" rtlCol="0" anchor="ctr"/>
          <a:lstStyle/>
          <a:p>
            <a:pPr marL="0" indent="0" algn="r">
              <a:buNone/>
            </a:pPr>
            <a:r>
              <a:rPr lang="en-US" sz="1800" b="1" dirty="0">
                <a:solidFill>
                  <a:srgbClr val="EE6C4D"/>
                </a:solidFill>
                <a:latin typeface="Calibri" pitchFamily="34" charset="0"/>
                <a:ea typeface="Calibri" pitchFamily="34" charset="-122"/>
                <a:cs typeface="Calibri" pitchFamily="34" charset="-120"/>
              </a:rPr>
              <a:t>2.6%</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02 / DATA</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Dataset Overview</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2697480" cy="137160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6" name="Text 4"/>
          <p:cNvSpPr/>
          <p:nvPr/>
        </p:nvSpPr>
        <p:spPr>
          <a:xfrm>
            <a:off x="457200" y="1417320"/>
            <a:ext cx="2697480" cy="640080"/>
          </a:xfrm>
          <a:prstGeom prst="rect">
            <a:avLst/>
          </a:prstGeom>
          <a:noFill/>
          <a:ln/>
        </p:spPr>
        <p:txBody>
          <a:bodyPr wrap="square" lIns="0" tIns="0" rIns="0" bIns="0" rtlCol="0" anchor="ctr"/>
          <a:lstStyle/>
          <a:p>
            <a:pPr marL="0" indent="0" algn="ctr">
              <a:buNone/>
            </a:pPr>
            <a:r>
              <a:rPr lang="en-US" sz="3600" b="1" dirty="0">
                <a:solidFill>
                  <a:srgbClr val="0B2545"/>
                </a:solidFill>
                <a:latin typeface="Georgia" pitchFamily="34" charset="0"/>
                <a:ea typeface="Georgia" pitchFamily="34" charset="-122"/>
                <a:cs typeface="Georgia" pitchFamily="34" charset="-120"/>
              </a:rPr>
              <a:t>7.7M</a:t>
            </a:r>
            <a:endParaRPr lang="en-US" sz="3600" dirty="0"/>
          </a:p>
        </p:txBody>
      </p:sp>
      <p:sp>
        <p:nvSpPr>
          <p:cNvPr id="7" name="Text 5"/>
          <p:cNvSpPr/>
          <p:nvPr/>
        </p:nvSpPr>
        <p:spPr>
          <a:xfrm>
            <a:off x="457200" y="2057400"/>
            <a:ext cx="2697480" cy="320040"/>
          </a:xfrm>
          <a:prstGeom prst="rect">
            <a:avLst/>
          </a:prstGeom>
          <a:noFill/>
          <a:ln/>
        </p:spPr>
        <p:txBody>
          <a:bodyPr wrap="square" lIns="0" tIns="0" rIns="0" bIns="0" rtlCol="0" anchor="ctr"/>
          <a:lstStyle/>
          <a:p>
            <a:pPr marL="0" indent="0" algn="ctr">
              <a:buNone/>
            </a:pPr>
            <a:r>
              <a:rPr lang="en-US" sz="1300" b="1" dirty="0">
                <a:solidFill>
                  <a:srgbClr val="1B1B1B"/>
                </a:solidFill>
                <a:latin typeface="Calibri" pitchFamily="34" charset="0"/>
                <a:ea typeface="Calibri" pitchFamily="34" charset="-122"/>
                <a:cs typeface="Calibri" pitchFamily="34" charset="-120"/>
              </a:rPr>
              <a:t>Original records</a:t>
            </a:r>
            <a:endParaRPr lang="en-US" sz="1300" dirty="0"/>
          </a:p>
        </p:txBody>
      </p:sp>
      <p:sp>
        <p:nvSpPr>
          <p:cNvPr id="8" name="Text 6"/>
          <p:cNvSpPr/>
          <p:nvPr/>
        </p:nvSpPr>
        <p:spPr>
          <a:xfrm>
            <a:off x="457200" y="2377440"/>
            <a:ext cx="2697480" cy="32004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2016 → March 2023</a:t>
            </a:r>
            <a:endParaRPr lang="en-US" sz="1100" dirty="0"/>
          </a:p>
        </p:txBody>
      </p:sp>
      <p:sp>
        <p:nvSpPr>
          <p:cNvPr id="9" name="Shape 7"/>
          <p:cNvSpPr/>
          <p:nvPr/>
        </p:nvSpPr>
        <p:spPr>
          <a:xfrm>
            <a:off x="3337560" y="1371600"/>
            <a:ext cx="2697480" cy="137160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10" name="Text 8"/>
          <p:cNvSpPr/>
          <p:nvPr/>
        </p:nvSpPr>
        <p:spPr>
          <a:xfrm>
            <a:off x="3337560" y="1417320"/>
            <a:ext cx="2697480" cy="640080"/>
          </a:xfrm>
          <a:prstGeom prst="rect">
            <a:avLst/>
          </a:prstGeom>
          <a:noFill/>
          <a:ln/>
        </p:spPr>
        <p:txBody>
          <a:bodyPr wrap="square" lIns="0" tIns="0" rIns="0" bIns="0" rtlCol="0" anchor="ctr"/>
          <a:lstStyle/>
          <a:p>
            <a:pPr marL="0" indent="0" algn="ctr">
              <a:buNone/>
            </a:pPr>
            <a:r>
              <a:rPr lang="en-US" sz="3600" b="1" dirty="0">
                <a:solidFill>
                  <a:srgbClr val="0B2545"/>
                </a:solidFill>
                <a:latin typeface="Georgia" pitchFamily="34" charset="0"/>
                <a:ea typeface="Georgia" pitchFamily="34" charset="-122"/>
                <a:cs typeface="Georgia" pitchFamily="34" charset="-120"/>
              </a:rPr>
              <a:t>46</a:t>
            </a:r>
            <a:endParaRPr lang="en-US" sz="3600" dirty="0"/>
          </a:p>
        </p:txBody>
      </p:sp>
      <p:sp>
        <p:nvSpPr>
          <p:cNvPr id="11" name="Text 9"/>
          <p:cNvSpPr/>
          <p:nvPr/>
        </p:nvSpPr>
        <p:spPr>
          <a:xfrm>
            <a:off x="3337560" y="2057400"/>
            <a:ext cx="2697480" cy="320040"/>
          </a:xfrm>
          <a:prstGeom prst="rect">
            <a:avLst/>
          </a:prstGeom>
          <a:noFill/>
          <a:ln/>
        </p:spPr>
        <p:txBody>
          <a:bodyPr wrap="square" lIns="0" tIns="0" rIns="0" bIns="0" rtlCol="0" anchor="ctr"/>
          <a:lstStyle/>
          <a:p>
            <a:pPr marL="0" indent="0" algn="ctr">
              <a:buNone/>
            </a:pPr>
            <a:r>
              <a:rPr lang="en-US" sz="1300" b="1" dirty="0">
                <a:solidFill>
                  <a:srgbClr val="1B1B1B"/>
                </a:solidFill>
                <a:latin typeface="Calibri" pitchFamily="34" charset="0"/>
                <a:ea typeface="Calibri" pitchFamily="34" charset="-122"/>
                <a:cs typeface="Calibri" pitchFamily="34" charset="-120"/>
              </a:rPr>
              <a:t>Original columns</a:t>
            </a:r>
            <a:endParaRPr lang="en-US" sz="1300" dirty="0"/>
          </a:p>
        </p:txBody>
      </p:sp>
      <p:sp>
        <p:nvSpPr>
          <p:cNvPr id="12" name="Text 10"/>
          <p:cNvSpPr/>
          <p:nvPr/>
        </p:nvSpPr>
        <p:spPr>
          <a:xfrm>
            <a:off x="3337560" y="2377440"/>
            <a:ext cx="2697480" cy="32004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before engineering</a:t>
            </a:r>
            <a:endParaRPr lang="en-US" sz="1100" dirty="0"/>
          </a:p>
        </p:txBody>
      </p:sp>
      <p:sp>
        <p:nvSpPr>
          <p:cNvPr id="13" name="Shape 11"/>
          <p:cNvSpPr/>
          <p:nvPr/>
        </p:nvSpPr>
        <p:spPr>
          <a:xfrm>
            <a:off x="6217920" y="1371600"/>
            <a:ext cx="2697480" cy="137160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14" name="Text 12"/>
          <p:cNvSpPr/>
          <p:nvPr/>
        </p:nvSpPr>
        <p:spPr>
          <a:xfrm>
            <a:off x="6217920" y="1417320"/>
            <a:ext cx="2697480" cy="640080"/>
          </a:xfrm>
          <a:prstGeom prst="rect">
            <a:avLst/>
          </a:prstGeom>
          <a:noFill/>
          <a:ln/>
        </p:spPr>
        <p:txBody>
          <a:bodyPr wrap="square" lIns="0" tIns="0" rIns="0" bIns="0" rtlCol="0" anchor="ctr"/>
          <a:lstStyle/>
          <a:p>
            <a:pPr marL="0" indent="0" algn="ctr">
              <a:buNone/>
            </a:pPr>
            <a:r>
              <a:rPr lang="en-US" sz="3600" b="1" dirty="0">
                <a:solidFill>
                  <a:srgbClr val="0B2545"/>
                </a:solidFill>
                <a:latin typeface="Georgia" pitchFamily="34" charset="0"/>
                <a:ea typeface="Georgia" pitchFamily="34" charset="-122"/>
                <a:cs typeface="Georgia" pitchFamily="34" charset="-120"/>
              </a:rPr>
              <a:t>49</a:t>
            </a:r>
            <a:endParaRPr lang="en-US" sz="3600" dirty="0"/>
          </a:p>
        </p:txBody>
      </p:sp>
      <p:sp>
        <p:nvSpPr>
          <p:cNvPr id="15" name="Text 13"/>
          <p:cNvSpPr/>
          <p:nvPr/>
        </p:nvSpPr>
        <p:spPr>
          <a:xfrm>
            <a:off x="6217920" y="2057400"/>
            <a:ext cx="2697480" cy="320040"/>
          </a:xfrm>
          <a:prstGeom prst="rect">
            <a:avLst/>
          </a:prstGeom>
          <a:noFill/>
          <a:ln/>
        </p:spPr>
        <p:txBody>
          <a:bodyPr wrap="square" lIns="0" tIns="0" rIns="0" bIns="0" rtlCol="0" anchor="ctr"/>
          <a:lstStyle/>
          <a:p>
            <a:pPr marL="0" indent="0" algn="ctr">
              <a:buNone/>
            </a:pPr>
            <a:r>
              <a:rPr lang="en-US" sz="1300" b="1" dirty="0">
                <a:solidFill>
                  <a:srgbClr val="1B1B1B"/>
                </a:solidFill>
                <a:latin typeface="Calibri" pitchFamily="34" charset="0"/>
                <a:ea typeface="Calibri" pitchFamily="34" charset="-122"/>
                <a:cs typeface="Calibri" pitchFamily="34" charset="-120"/>
              </a:rPr>
              <a:t>US states</a:t>
            </a:r>
            <a:endParaRPr lang="en-US" sz="1300" dirty="0"/>
          </a:p>
        </p:txBody>
      </p:sp>
      <p:sp>
        <p:nvSpPr>
          <p:cNvPr id="16" name="Text 14"/>
          <p:cNvSpPr/>
          <p:nvPr/>
        </p:nvSpPr>
        <p:spPr>
          <a:xfrm>
            <a:off x="6217920" y="2377440"/>
            <a:ext cx="2697480" cy="32004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national coverage</a:t>
            </a:r>
            <a:endParaRPr lang="en-US" sz="1100" dirty="0"/>
          </a:p>
        </p:txBody>
      </p:sp>
      <p:sp>
        <p:nvSpPr>
          <p:cNvPr id="17" name="Shape 15"/>
          <p:cNvSpPr/>
          <p:nvPr/>
        </p:nvSpPr>
        <p:spPr>
          <a:xfrm>
            <a:off x="9098280" y="1371600"/>
            <a:ext cx="2697480" cy="137160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18" name="Text 16"/>
          <p:cNvSpPr/>
          <p:nvPr/>
        </p:nvSpPr>
        <p:spPr>
          <a:xfrm>
            <a:off x="9098280" y="1417320"/>
            <a:ext cx="2697480" cy="640080"/>
          </a:xfrm>
          <a:prstGeom prst="rect">
            <a:avLst/>
          </a:prstGeom>
          <a:noFill/>
          <a:ln/>
        </p:spPr>
        <p:txBody>
          <a:bodyPr wrap="square" lIns="0" tIns="0" rIns="0" bIns="0" rtlCol="0" anchor="ctr"/>
          <a:lstStyle/>
          <a:p>
            <a:pPr marL="0" indent="0" algn="ctr">
              <a:buNone/>
            </a:pPr>
            <a:r>
              <a:rPr lang="en-US" sz="3600" b="1" dirty="0">
                <a:solidFill>
                  <a:srgbClr val="0B2545"/>
                </a:solidFill>
                <a:latin typeface="Georgia" pitchFamily="34" charset="0"/>
                <a:ea typeface="Georgia" pitchFamily="34" charset="-122"/>
                <a:cs typeface="Georgia" pitchFamily="34" charset="-120"/>
              </a:rPr>
              <a:t>7.3 GB</a:t>
            </a:r>
            <a:endParaRPr lang="en-US" sz="3600" dirty="0"/>
          </a:p>
        </p:txBody>
      </p:sp>
      <p:sp>
        <p:nvSpPr>
          <p:cNvPr id="19" name="Text 17"/>
          <p:cNvSpPr/>
          <p:nvPr/>
        </p:nvSpPr>
        <p:spPr>
          <a:xfrm>
            <a:off x="9098280" y="2057400"/>
            <a:ext cx="2697480" cy="320040"/>
          </a:xfrm>
          <a:prstGeom prst="rect">
            <a:avLst/>
          </a:prstGeom>
          <a:noFill/>
          <a:ln/>
        </p:spPr>
        <p:txBody>
          <a:bodyPr wrap="square" lIns="0" tIns="0" rIns="0" bIns="0" rtlCol="0" anchor="ctr"/>
          <a:lstStyle/>
          <a:p>
            <a:pPr marL="0" indent="0" algn="ctr">
              <a:buNone/>
            </a:pPr>
            <a:r>
              <a:rPr lang="en-US" sz="1300" b="1" dirty="0">
                <a:solidFill>
                  <a:srgbClr val="1B1B1B"/>
                </a:solidFill>
                <a:latin typeface="Calibri" pitchFamily="34" charset="0"/>
                <a:ea typeface="Calibri" pitchFamily="34" charset="-122"/>
                <a:cs typeface="Calibri" pitchFamily="34" charset="-120"/>
              </a:rPr>
              <a:t>Memory footprint</a:t>
            </a:r>
            <a:endParaRPr lang="en-US" sz="1300" dirty="0"/>
          </a:p>
        </p:txBody>
      </p:sp>
      <p:sp>
        <p:nvSpPr>
          <p:cNvPr id="20" name="Text 18"/>
          <p:cNvSpPr/>
          <p:nvPr/>
        </p:nvSpPr>
        <p:spPr>
          <a:xfrm>
            <a:off x="9098280" y="2377440"/>
            <a:ext cx="2697480" cy="320040"/>
          </a:xfrm>
          <a:prstGeom prst="rect">
            <a:avLst/>
          </a:prstGeom>
          <a:noFill/>
          <a:ln/>
        </p:spPr>
        <p:txBody>
          <a:bodyPr wrap="square" lIns="0" tIns="0" rIns="0" bIns="0" rtlCol="0" anchor="ctr"/>
          <a:lstStyle/>
          <a:p>
            <a:pPr marL="0" indent="0" algn="ctr">
              <a:buNone/>
            </a:pPr>
            <a:r>
              <a:rPr lang="en-US" sz="1100" i="1" dirty="0">
                <a:solidFill>
                  <a:srgbClr val="5C6B7A"/>
                </a:solidFill>
                <a:latin typeface="Calibri" pitchFamily="34" charset="0"/>
                <a:ea typeface="Calibri" pitchFamily="34" charset="-122"/>
                <a:cs typeface="Calibri" pitchFamily="34" charset="-120"/>
              </a:rPr>
              <a:t>before optimization</a:t>
            </a:r>
            <a:endParaRPr lang="en-US" sz="1100" dirty="0"/>
          </a:p>
        </p:txBody>
      </p:sp>
      <p:sp>
        <p:nvSpPr>
          <p:cNvPr id="21" name="Shape 19"/>
          <p:cNvSpPr/>
          <p:nvPr/>
        </p:nvSpPr>
        <p:spPr>
          <a:xfrm>
            <a:off x="457200" y="3017520"/>
            <a:ext cx="5577840" cy="3200400"/>
          </a:xfrm>
          <a:prstGeom prst="rect">
            <a:avLst/>
          </a:prstGeom>
          <a:solidFill>
            <a:srgbClr val="FFFFFF"/>
          </a:solidFill>
          <a:ln w="12700">
            <a:solidFill>
              <a:srgbClr val="E5E7EB"/>
            </a:solidFill>
            <a:prstDash val="solid"/>
          </a:ln>
        </p:spPr>
        <p:txBody>
          <a:bodyPr/>
          <a:lstStyle/>
          <a:p>
            <a:endParaRPr lang="es-PY"/>
          </a:p>
        </p:txBody>
      </p:sp>
      <p:sp>
        <p:nvSpPr>
          <p:cNvPr id="22" name="Text 20"/>
          <p:cNvSpPr/>
          <p:nvPr/>
        </p:nvSpPr>
        <p:spPr>
          <a:xfrm>
            <a:off x="731520" y="3200400"/>
            <a:ext cx="50292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DATA SOURCE</a:t>
            </a:r>
            <a:endParaRPr lang="en-US" sz="1200" dirty="0"/>
          </a:p>
        </p:txBody>
      </p:sp>
      <p:sp>
        <p:nvSpPr>
          <p:cNvPr id="23" name="Text 21"/>
          <p:cNvSpPr/>
          <p:nvPr/>
        </p:nvSpPr>
        <p:spPr>
          <a:xfrm>
            <a:off x="731520" y="3566160"/>
            <a:ext cx="5029200" cy="365760"/>
          </a:xfrm>
          <a:prstGeom prst="rect">
            <a:avLst/>
          </a:prstGeom>
          <a:noFill/>
          <a:ln/>
        </p:spPr>
        <p:txBody>
          <a:bodyPr wrap="square" lIns="0" tIns="0" rIns="0" bIns="0" rtlCol="0" anchor="ctr"/>
          <a:lstStyle/>
          <a:p>
            <a:pPr marL="0" indent="0">
              <a:buNone/>
            </a:pPr>
            <a:r>
              <a:rPr lang="en-US" sz="1600" b="1" dirty="0">
                <a:solidFill>
                  <a:srgbClr val="0B2545"/>
                </a:solidFill>
                <a:latin typeface="Calibri" pitchFamily="34" charset="0"/>
                <a:ea typeface="Calibri" pitchFamily="34" charset="-122"/>
                <a:cs typeface="Calibri" pitchFamily="34" charset="-120"/>
              </a:rPr>
              <a:t>Sobhan Moosavi — US Accidents (March 2023)</a:t>
            </a:r>
            <a:endParaRPr lang="en-US" sz="1600" dirty="0"/>
          </a:p>
        </p:txBody>
      </p:sp>
      <p:sp>
        <p:nvSpPr>
          <p:cNvPr id="24" name="Text 22"/>
          <p:cNvSpPr/>
          <p:nvPr/>
        </p:nvSpPr>
        <p:spPr>
          <a:xfrm>
            <a:off x="731520" y="4023360"/>
            <a:ext cx="5029200" cy="201168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Public dataset hosted on Kaggle</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Aggregated from MapQuest, Bing, and traffic APIs</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Continuous coverage from Feb 2016 to Mar 2023</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Each row is a single recorded traffic accident</a:t>
            </a:r>
            <a:endParaRPr lang="en-US" sz="1300" dirty="0"/>
          </a:p>
        </p:txBody>
      </p:sp>
      <p:sp>
        <p:nvSpPr>
          <p:cNvPr id="25" name="Shape 23"/>
          <p:cNvSpPr/>
          <p:nvPr/>
        </p:nvSpPr>
        <p:spPr>
          <a:xfrm>
            <a:off x="6309360" y="3017520"/>
            <a:ext cx="5394960" cy="3200400"/>
          </a:xfrm>
          <a:prstGeom prst="rect">
            <a:avLst/>
          </a:prstGeom>
          <a:solidFill>
            <a:srgbClr val="FFFFFF"/>
          </a:solidFill>
          <a:ln w="12700">
            <a:solidFill>
              <a:srgbClr val="E5E7EB"/>
            </a:solidFill>
            <a:prstDash val="solid"/>
          </a:ln>
        </p:spPr>
        <p:txBody>
          <a:bodyPr/>
          <a:lstStyle/>
          <a:p>
            <a:endParaRPr lang="es-PY"/>
          </a:p>
        </p:txBody>
      </p:sp>
      <p:sp>
        <p:nvSpPr>
          <p:cNvPr id="26" name="Text 24"/>
          <p:cNvSpPr/>
          <p:nvPr/>
        </p:nvSpPr>
        <p:spPr>
          <a:xfrm>
            <a:off x="6583680" y="3200400"/>
            <a:ext cx="484632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FEATURE CATEGORIES</a:t>
            </a:r>
            <a:endParaRPr lang="en-US" sz="1200" dirty="0"/>
          </a:p>
        </p:txBody>
      </p:sp>
      <p:sp>
        <p:nvSpPr>
          <p:cNvPr id="27" name="Text 25"/>
          <p:cNvSpPr/>
          <p:nvPr/>
        </p:nvSpPr>
        <p:spPr>
          <a:xfrm>
            <a:off x="6583680" y="3657600"/>
            <a:ext cx="1371600" cy="36576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Time</a:t>
            </a:r>
            <a:endParaRPr lang="en-US" sz="1300" dirty="0"/>
          </a:p>
        </p:txBody>
      </p:sp>
      <p:sp>
        <p:nvSpPr>
          <p:cNvPr id="28" name="Text 26"/>
          <p:cNvSpPr/>
          <p:nvPr/>
        </p:nvSpPr>
        <p:spPr>
          <a:xfrm>
            <a:off x="7955280" y="3657600"/>
            <a:ext cx="3657600" cy="36576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Start, End, duration</a:t>
            </a:r>
            <a:endParaRPr lang="en-US" sz="1200" dirty="0"/>
          </a:p>
        </p:txBody>
      </p:sp>
      <p:sp>
        <p:nvSpPr>
          <p:cNvPr id="29" name="Text 27"/>
          <p:cNvSpPr/>
          <p:nvPr/>
        </p:nvSpPr>
        <p:spPr>
          <a:xfrm>
            <a:off x="6583680" y="4069080"/>
            <a:ext cx="1371600" cy="36576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Location</a:t>
            </a:r>
            <a:endParaRPr lang="en-US" sz="1300" dirty="0"/>
          </a:p>
        </p:txBody>
      </p:sp>
      <p:sp>
        <p:nvSpPr>
          <p:cNvPr id="30" name="Text 28"/>
          <p:cNvSpPr/>
          <p:nvPr/>
        </p:nvSpPr>
        <p:spPr>
          <a:xfrm>
            <a:off x="7955280" y="4069080"/>
            <a:ext cx="3657600" cy="36576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Lat, Lng, City, State, Zip</a:t>
            </a:r>
            <a:endParaRPr lang="en-US" sz="1200" dirty="0"/>
          </a:p>
        </p:txBody>
      </p:sp>
      <p:sp>
        <p:nvSpPr>
          <p:cNvPr id="31" name="Text 29"/>
          <p:cNvSpPr/>
          <p:nvPr/>
        </p:nvSpPr>
        <p:spPr>
          <a:xfrm>
            <a:off x="6583680" y="4480560"/>
            <a:ext cx="1371600" cy="36576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Weather</a:t>
            </a:r>
            <a:endParaRPr lang="en-US" sz="1300" dirty="0"/>
          </a:p>
        </p:txBody>
      </p:sp>
      <p:sp>
        <p:nvSpPr>
          <p:cNvPr id="32" name="Text 30"/>
          <p:cNvSpPr/>
          <p:nvPr/>
        </p:nvSpPr>
        <p:spPr>
          <a:xfrm>
            <a:off x="7955280" y="4480560"/>
            <a:ext cx="3657600" cy="36576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Temp, Humidity, Visibility, Wind, Precip</a:t>
            </a:r>
            <a:endParaRPr lang="en-US" sz="1200" dirty="0"/>
          </a:p>
        </p:txBody>
      </p:sp>
      <p:sp>
        <p:nvSpPr>
          <p:cNvPr id="33" name="Text 31"/>
          <p:cNvSpPr/>
          <p:nvPr/>
        </p:nvSpPr>
        <p:spPr>
          <a:xfrm>
            <a:off x="6583680" y="4892040"/>
            <a:ext cx="1371600" cy="36576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Road</a:t>
            </a:r>
            <a:endParaRPr lang="en-US" sz="1300" dirty="0"/>
          </a:p>
        </p:txBody>
      </p:sp>
      <p:sp>
        <p:nvSpPr>
          <p:cNvPr id="34" name="Text 32"/>
          <p:cNvSpPr/>
          <p:nvPr/>
        </p:nvSpPr>
        <p:spPr>
          <a:xfrm>
            <a:off x="7955280" y="4892040"/>
            <a:ext cx="3657600" cy="36576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Junction, Crossing, Stop, Traffic Signal...</a:t>
            </a:r>
            <a:endParaRPr lang="en-US" sz="1200" dirty="0"/>
          </a:p>
        </p:txBody>
      </p:sp>
      <p:sp>
        <p:nvSpPr>
          <p:cNvPr id="35" name="Text 33"/>
          <p:cNvSpPr/>
          <p:nvPr/>
        </p:nvSpPr>
        <p:spPr>
          <a:xfrm>
            <a:off x="6583680" y="5303520"/>
            <a:ext cx="1371600" cy="36576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Twilight</a:t>
            </a:r>
            <a:endParaRPr lang="en-US" sz="1300" dirty="0"/>
          </a:p>
        </p:txBody>
      </p:sp>
      <p:sp>
        <p:nvSpPr>
          <p:cNvPr id="36" name="Text 34"/>
          <p:cNvSpPr/>
          <p:nvPr/>
        </p:nvSpPr>
        <p:spPr>
          <a:xfrm>
            <a:off x="7955280" y="5303520"/>
            <a:ext cx="3657600" cy="36576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Day/Night, Civil/Nautical/Astro</a:t>
            </a:r>
            <a:endParaRPr lang="en-US" sz="1200" dirty="0"/>
          </a:p>
        </p:txBody>
      </p:sp>
      <p:sp>
        <p:nvSpPr>
          <p:cNvPr id="37" name="Text 35"/>
          <p:cNvSpPr/>
          <p:nvPr/>
        </p:nvSpPr>
        <p:spPr>
          <a:xfrm>
            <a:off x="6583680" y="5715000"/>
            <a:ext cx="1371600" cy="36576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Target</a:t>
            </a:r>
            <a:endParaRPr lang="en-US" sz="1300" dirty="0"/>
          </a:p>
        </p:txBody>
      </p:sp>
      <p:sp>
        <p:nvSpPr>
          <p:cNvPr id="38" name="Text 36"/>
          <p:cNvSpPr/>
          <p:nvPr/>
        </p:nvSpPr>
        <p:spPr>
          <a:xfrm>
            <a:off x="7955280" y="5715000"/>
            <a:ext cx="3657600" cy="36576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Severity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03 / CLEANING</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Data Cleaning Pipeline</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7315200" cy="1051560"/>
          </a:xfrm>
          <a:prstGeom prst="rect">
            <a:avLst/>
          </a:prstGeom>
          <a:solidFill>
            <a:srgbClr val="FFFFFF"/>
          </a:solidFill>
          <a:ln w="12700">
            <a:solidFill>
              <a:srgbClr val="E5E7EB"/>
            </a:solidFill>
            <a:prstDash val="solid"/>
          </a:ln>
        </p:spPr>
        <p:txBody>
          <a:bodyPr/>
          <a:lstStyle/>
          <a:p>
            <a:endParaRPr lang="es-PY"/>
          </a:p>
        </p:txBody>
      </p:sp>
      <p:sp>
        <p:nvSpPr>
          <p:cNvPr id="6" name="Shape 4"/>
          <p:cNvSpPr/>
          <p:nvPr/>
        </p:nvSpPr>
        <p:spPr>
          <a:xfrm>
            <a:off x="457200" y="1371600"/>
            <a:ext cx="73152" cy="1051560"/>
          </a:xfrm>
          <a:prstGeom prst="rect">
            <a:avLst/>
          </a:prstGeom>
          <a:solidFill>
            <a:srgbClr val="EE6C4D"/>
          </a:solidFill>
          <a:ln/>
        </p:spPr>
        <p:txBody>
          <a:bodyPr/>
          <a:lstStyle/>
          <a:p>
            <a:endParaRPr lang="es-PY"/>
          </a:p>
        </p:txBody>
      </p:sp>
      <p:sp>
        <p:nvSpPr>
          <p:cNvPr id="7" name="Shape 5"/>
          <p:cNvSpPr/>
          <p:nvPr/>
        </p:nvSpPr>
        <p:spPr>
          <a:xfrm>
            <a:off x="731520" y="1600200"/>
            <a:ext cx="594360" cy="594360"/>
          </a:xfrm>
          <a:prstGeom prst="ellipse">
            <a:avLst/>
          </a:prstGeom>
          <a:solidFill>
            <a:srgbClr val="0B2545"/>
          </a:solidFill>
          <a:ln/>
        </p:spPr>
        <p:txBody>
          <a:bodyPr/>
          <a:lstStyle/>
          <a:p>
            <a:endParaRPr lang="es-PY"/>
          </a:p>
        </p:txBody>
      </p:sp>
      <p:sp>
        <p:nvSpPr>
          <p:cNvPr id="8" name="Text 6"/>
          <p:cNvSpPr/>
          <p:nvPr/>
        </p:nvSpPr>
        <p:spPr>
          <a:xfrm>
            <a:off x="731520" y="160020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463040" y="1508760"/>
            <a:ext cx="5943600" cy="365760"/>
          </a:xfrm>
          <a:prstGeom prst="rect">
            <a:avLst/>
          </a:prstGeom>
          <a:noFill/>
          <a:ln/>
        </p:spPr>
        <p:txBody>
          <a:bodyPr wrap="square" lIns="0" tIns="0" rIns="0" bIns="0" rtlCol="0" anchor="ctr"/>
          <a:lstStyle/>
          <a:p>
            <a:pPr marL="0" indent="0">
              <a:buNone/>
            </a:pPr>
            <a:r>
              <a:rPr lang="en-US" sz="1500" b="1" dirty="0">
                <a:solidFill>
                  <a:srgbClr val="0B2545"/>
                </a:solidFill>
                <a:latin typeface="Calibri" pitchFamily="34" charset="0"/>
                <a:ea typeface="Calibri" pitchFamily="34" charset="-122"/>
                <a:cs typeface="Calibri" pitchFamily="34" charset="-120"/>
              </a:rPr>
              <a:t>Drop useless columns</a:t>
            </a:r>
            <a:endParaRPr lang="en-US" sz="1500" dirty="0"/>
          </a:p>
        </p:txBody>
      </p:sp>
      <p:sp>
        <p:nvSpPr>
          <p:cNvPr id="10" name="Text 8"/>
          <p:cNvSpPr/>
          <p:nvPr/>
        </p:nvSpPr>
        <p:spPr>
          <a:xfrm>
            <a:off x="1463040" y="1874520"/>
            <a:ext cx="5943600" cy="50292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Country (1 unique value), End_Lat/Lng (44% missing), Description (free text), Wind_Chill (correlated with Temperature)</a:t>
            </a:r>
            <a:endParaRPr lang="en-US" sz="1100" dirty="0"/>
          </a:p>
        </p:txBody>
      </p:sp>
      <p:sp>
        <p:nvSpPr>
          <p:cNvPr id="11" name="Shape 9"/>
          <p:cNvSpPr/>
          <p:nvPr/>
        </p:nvSpPr>
        <p:spPr>
          <a:xfrm>
            <a:off x="457200" y="2542032"/>
            <a:ext cx="7315200" cy="1051560"/>
          </a:xfrm>
          <a:prstGeom prst="rect">
            <a:avLst/>
          </a:prstGeom>
          <a:solidFill>
            <a:srgbClr val="FFFFFF"/>
          </a:solidFill>
          <a:ln w="12700">
            <a:solidFill>
              <a:srgbClr val="E5E7EB"/>
            </a:solidFill>
            <a:prstDash val="solid"/>
          </a:ln>
        </p:spPr>
        <p:txBody>
          <a:bodyPr/>
          <a:lstStyle/>
          <a:p>
            <a:endParaRPr lang="es-PY"/>
          </a:p>
        </p:txBody>
      </p:sp>
      <p:sp>
        <p:nvSpPr>
          <p:cNvPr id="12" name="Shape 10"/>
          <p:cNvSpPr/>
          <p:nvPr/>
        </p:nvSpPr>
        <p:spPr>
          <a:xfrm>
            <a:off x="457200" y="2542032"/>
            <a:ext cx="73152" cy="1051560"/>
          </a:xfrm>
          <a:prstGeom prst="rect">
            <a:avLst/>
          </a:prstGeom>
          <a:solidFill>
            <a:srgbClr val="EE6C4D"/>
          </a:solidFill>
          <a:ln/>
        </p:spPr>
        <p:txBody>
          <a:bodyPr/>
          <a:lstStyle/>
          <a:p>
            <a:endParaRPr lang="es-PY"/>
          </a:p>
        </p:txBody>
      </p:sp>
      <p:sp>
        <p:nvSpPr>
          <p:cNvPr id="13" name="Shape 11"/>
          <p:cNvSpPr/>
          <p:nvPr/>
        </p:nvSpPr>
        <p:spPr>
          <a:xfrm>
            <a:off x="731520" y="2770632"/>
            <a:ext cx="594360" cy="594360"/>
          </a:xfrm>
          <a:prstGeom prst="ellipse">
            <a:avLst/>
          </a:prstGeom>
          <a:solidFill>
            <a:srgbClr val="0B2545"/>
          </a:solidFill>
          <a:ln/>
        </p:spPr>
        <p:txBody>
          <a:bodyPr/>
          <a:lstStyle/>
          <a:p>
            <a:endParaRPr lang="es-PY"/>
          </a:p>
        </p:txBody>
      </p:sp>
      <p:sp>
        <p:nvSpPr>
          <p:cNvPr id="14" name="Text 12"/>
          <p:cNvSpPr/>
          <p:nvPr/>
        </p:nvSpPr>
        <p:spPr>
          <a:xfrm>
            <a:off x="731520" y="2770632"/>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5" name="Text 13"/>
          <p:cNvSpPr/>
          <p:nvPr/>
        </p:nvSpPr>
        <p:spPr>
          <a:xfrm>
            <a:off x="1463040" y="2679192"/>
            <a:ext cx="5943600" cy="365760"/>
          </a:xfrm>
          <a:prstGeom prst="rect">
            <a:avLst/>
          </a:prstGeom>
          <a:noFill/>
          <a:ln/>
        </p:spPr>
        <p:txBody>
          <a:bodyPr wrap="square" lIns="0" tIns="0" rIns="0" bIns="0" rtlCol="0" anchor="ctr"/>
          <a:lstStyle/>
          <a:p>
            <a:pPr marL="0" indent="0">
              <a:buNone/>
            </a:pPr>
            <a:r>
              <a:rPr lang="en-US" sz="1500" b="1" dirty="0">
                <a:solidFill>
                  <a:srgbClr val="0B2545"/>
                </a:solidFill>
                <a:latin typeface="Calibri" pitchFamily="34" charset="0"/>
                <a:ea typeface="Calibri" pitchFamily="34" charset="-122"/>
                <a:cs typeface="Calibri" pitchFamily="34" charset="-120"/>
              </a:rPr>
              <a:t>Fix impossible outliers</a:t>
            </a:r>
            <a:endParaRPr lang="en-US" sz="1500" dirty="0"/>
          </a:p>
        </p:txBody>
      </p:sp>
      <p:sp>
        <p:nvSpPr>
          <p:cNvPr id="16" name="Text 14"/>
          <p:cNvSpPr/>
          <p:nvPr/>
        </p:nvSpPr>
        <p:spPr>
          <a:xfrm>
            <a:off x="1463040" y="3044952"/>
            <a:ext cx="5943600" cy="50292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Temperature &gt; 207°F → NaN, Wind Speed &gt; 1087 mph → NaN, Pressure = 0 → NaN, Visibility &gt; 140 mi → NaN</a:t>
            </a:r>
            <a:endParaRPr lang="en-US" sz="1100" dirty="0"/>
          </a:p>
        </p:txBody>
      </p:sp>
      <p:sp>
        <p:nvSpPr>
          <p:cNvPr id="17" name="Shape 15"/>
          <p:cNvSpPr/>
          <p:nvPr/>
        </p:nvSpPr>
        <p:spPr>
          <a:xfrm>
            <a:off x="457200" y="3712464"/>
            <a:ext cx="7315200" cy="1051560"/>
          </a:xfrm>
          <a:prstGeom prst="rect">
            <a:avLst/>
          </a:prstGeom>
          <a:solidFill>
            <a:srgbClr val="FFFFFF"/>
          </a:solidFill>
          <a:ln w="12700">
            <a:solidFill>
              <a:srgbClr val="E5E7EB"/>
            </a:solidFill>
            <a:prstDash val="solid"/>
          </a:ln>
        </p:spPr>
        <p:txBody>
          <a:bodyPr/>
          <a:lstStyle/>
          <a:p>
            <a:endParaRPr lang="es-PY"/>
          </a:p>
        </p:txBody>
      </p:sp>
      <p:sp>
        <p:nvSpPr>
          <p:cNvPr id="18" name="Shape 16"/>
          <p:cNvSpPr/>
          <p:nvPr/>
        </p:nvSpPr>
        <p:spPr>
          <a:xfrm>
            <a:off x="457200" y="3712464"/>
            <a:ext cx="73152" cy="1051560"/>
          </a:xfrm>
          <a:prstGeom prst="rect">
            <a:avLst/>
          </a:prstGeom>
          <a:solidFill>
            <a:srgbClr val="EE6C4D"/>
          </a:solidFill>
          <a:ln/>
        </p:spPr>
        <p:txBody>
          <a:bodyPr/>
          <a:lstStyle/>
          <a:p>
            <a:endParaRPr lang="es-PY"/>
          </a:p>
        </p:txBody>
      </p:sp>
      <p:sp>
        <p:nvSpPr>
          <p:cNvPr id="19" name="Shape 17"/>
          <p:cNvSpPr/>
          <p:nvPr/>
        </p:nvSpPr>
        <p:spPr>
          <a:xfrm>
            <a:off x="731520" y="3941064"/>
            <a:ext cx="594360" cy="594360"/>
          </a:xfrm>
          <a:prstGeom prst="ellipse">
            <a:avLst/>
          </a:prstGeom>
          <a:solidFill>
            <a:srgbClr val="0B2545"/>
          </a:solidFill>
          <a:ln/>
        </p:spPr>
        <p:txBody>
          <a:bodyPr/>
          <a:lstStyle/>
          <a:p>
            <a:endParaRPr lang="es-PY"/>
          </a:p>
        </p:txBody>
      </p:sp>
      <p:sp>
        <p:nvSpPr>
          <p:cNvPr id="20" name="Text 18"/>
          <p:cNvSpPr/>
          <p:nvPr/>
        </p:nvSpPr>
        <p:spPr>
          <a:xfrm>
            <a:off x="731520" y="3941064"/>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21" name="Text 19"/>
          <p:cNvSpPr/>
          <p:nvPr/>
        </p:nvSpPr>
        <p:spPr>
          <a:xfrm>
            <a:off x="1463040" y="3849624"/>
            <a:ext cx="5943600" cy="365760"/>
          </a:xfrm>
          <a:prstGeom prst="rect">
            <a:avLst/>
          </a:prstGeom>
          <a:noFill/>
          <a:ln/>
        </p:spPr>
        <p:txBody>
          <a:bodyPr wrap="square" lIns="0" tIns="0" rIns="0" bIns="0" rtlCol="0" anchor="ctr"/>
          <a:lstStyle/>
          <a:p>
            <a:pPr marL="0" indent="0">
              <a:buNone/>
            </a:pPr>
            <a:r>
              <a:rPr lang="en-US" sz="1500" b="1" dirty="0">
                <a:solidFill>
                  <a:srgbClr val="0B2545"/>
                </a:solidFill>
                <a:latin typeface="Calibri" pitchFamily="34" charset="0"/>
                <a:ea typeface="Calibri" pitchFamily="34" charset="-122"/>
                <a:cs typeface="Calibri" pitchFamily="34" charset="-120"/>
              </a:rPr>
              <a:t>Imputation</a:t>
            </a:r>
            <a:endParaRPr lang="en-US" sz="1500" dirty="0"/>
          </a:p>
        </p:txBody>
      </p:sp>
      <p:sp>
        <p:nvSpPr>
          <p:cNvPr id="22" name="Text 20"/>
          <p:cNvSpPr/>
          <p:nvPr/>
        </p:nvSpPr>
        <p:spPr>
          <a:xfrm>
            <a:off x="1463040" y="4215384"/>
            <a:ext cx="5943600" cy="50292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Precipitation NaN → 0 (no rain reported), other numeric NaN → median, categorical NaN → 'Unknown'</a:t>
            </a:r>
            <a:endParaRPr lang="en-US" sz="1100" dirty="0"/>
          </a:p>
        </p:txBody>
      </p:sp>
      <p:sp>
        <p:nvSpPr>
          <p:cNvPr id="23" name="Shape 21"/>
          <p:cNvSpPr/>
          <p:nvPr/>
        </p:nvSpPr>
        <p:spPr>
          <a:xfrm>
            <a:off x="457200" y="4882896"/>
            <a:ext cx="7315200" cy="1051560"/>
          </a:xfrm>
          <a:prstGeom prst="rect">
            <a:avLst/>
          </a:prstGeom>
          <a:solidFill>
            <a:srgbClr val="FFFFFF"/>
          </a:solidFill>
          <a:ln w="12700">
            <a:solidFill>
              <a:srgbClr val="E5E7EB"/>
            </a:solidFill>
            <a:prstDash val="solid"/>
          </a:ln>
        </p:spPr>
        <p:txBody>
          <a:bodyPr/>
          <a:lstStyle/>
          <a:p>
            <a:endParaRPr lang="es-PY"/>
          </a:p>
        </p:txBody>
      </p:sp>
      <p:sp>
        <p:nvSpPr>
          <p:cNvPr id="24" name="Shape 22"/>
          <p:cNvSpPr/>
          <p:nvPr/>
        </p:nvSpPr>
        <p:spPr>
          <a:xfrm>
            <a:off x="457200" y="4882896"/>
            <a:ext cx="73152" cy="1051560"/>
          </a:xfrm>
          <a:prstGeom prst="rect">
            <a:avLst/>
          </a:prstGeom>
          <a:solidFill>
            <a:srgbClr val="EE6C4D"/>
          </a:solidFill>
          <a:ln/>
        </p:spPr>
        <p:txBody>
          <a:bodyPr/>
          <a:lstStyle/>
          <a:p>
            <a:endParaRPr lang="es-PY"/>
          </a:p>
        </p:txBody>
      </p:sp>
      <p:sp>
        <p:nvSpPr>
          <p:cNvPr id="25" name="Shape 23"/>
          <p:cNvSpPr/>
          <p:nvPr/>
        </p:nvSpPr>
        <p:spPr>
          <a:xfrm>
            <a:off x="731520" y="5111496"/>
            <a:ext cx="594360" cy="594360"/>
          </a:xfrm>
          <a:prstGeom prst="ellipse">
            <a:avLst/>
          </a:prstGeom>
          <a:solidFill>
            <a:srgbClr val="0B2545"/>
          </a:solidFill>
          <a:ln/>
        </p:spPr>
        <p:txBody>
          <a:bodyPr/>
          <a:lstStyle/>
          <a:p>
            <a:endParaRPr lang="es-PY"/>
          </a:p>
        </p:txBody>
      </p:sp>
      <p:sp>
        <p:nvSpPr>
          <p:cNvPr id="26" name="Text 24"/>
          <p:cNvSpPr/>
          <p:nvPr/>
        </p:nvSpPr>
        <p:spPr>
          <a:xfrm>
            <a:off x="731520" y="5111496"/>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4</a:t>
            </a:r>
            <a:endParaRPr lang="en-US" sz="2000" dirty="0"/>
          </a:p>
        </p:txBody>
      </p:sp>
      <p:sp>
        <p:nvSpPr>
          <p:cNvPr id="27" name="Text 25"/>
          <p:cNvSpPr/>
          <p:nvPr/>
        </p:nvSpPr>
        <p:spPr>
          <a:xfrm>
            <a:off x="1463040" y="5020056"/>
            <a:ext cx="5943600" cy="365760"/>
          </a:xfrm>
          <a:prstGeom prst="rect">
            <a:avLst/>
          </a:prstGeom>
          <a:noFill/>
          <a:ln/>
        </p:spPr>
        <p:txBody>
          <a:bodyPr wrap="square" lIns="0" tIns="0" rIns="0" bIns="0" rtlCol="0" anchor="ctr"/>
          <a:lstStyle/>
          <a:p>
            <a:pPr marL="0" indent="0">
              <a:buNone/>
            </a:pPr>
            <a:r>
              <a:rPr lang="en-US" sz="1500" b="1" dirty="0">
                <a:solidFill>
                  <a:srgbClr val="0B2545"/>
                </a:solidFill>
                <a:latin typeface="Calibri" pitchFamily="34" charset="0"/>
                <a:ea typeface="Calibri" pitchFamily="34" charset="-122"/>
                <a:cs typeface="Calibri" pitchFamily="34" charset="-120"/>
              </a:rPr>
              <a:t>Drop bad timestamps</a:t>
            </a:r>
            <a:endParaRPr lang="en-US" sz="1500" dirty="0"/>
          </a:p>
        </p:txBody>
      </p:sp>
      <p:sp>
        <p:nvSpPr>
          <p:cNvPr id="28" name="Text 26"/>
          <p:cNvSpPr/>
          <p:nvPr/>
        </p:nvSpPr>
        <p:spPr>
          <a:xfrm>
            <a:off x="1463040" y="5385816"/>
            <a:ext cx="5943600" cy="50292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743,166 rows with unparseable Start_Time or End_Time dropped — useless for time-based features</a:t>
            </a:r>
            <a:endParaRPr lang="en-US" sz="1100" dirty="0"/>
          </a:p>
        </p:txBody>
      </p:sp>
      <p:sp>
        <p:nvSpPr>
          <p:cNvPr id="29" name="Shape 27"/>
          <p:cNvSpPr/>
          <p:nvPr/>
        </p:nvSpPr>
        <p:spPr>
          <a:xfrm>
            <a:off x="8046720" y="1371600"/>
            <a:ext cx="3657600" cy="4846320"/>
          </a:xfrm>
          <a:prstGeom prst="rect">
            <a:avLst/>
          </a:prstGeom>
          <a:solidFill>
            <a:srgbClr val="0B2545"/>
          </a:solidFill>
          <a:ln/>
        </p:spPr>
        <p:txBody>
          <a:bodyPr/>
          <a:lstStyle/>
          <a:p>
            <a:endParaRPr lang="es-PY"/>
          </a:p>
        </p:txBody>
      </p:sp>
      <p:sp>
        <p:nvSpPr>
          <p:cNvPr id="30" name="Text 28"/>
          <p:cNvSpPr/>
          <p:nvPr/>
        </p:nvSpPr>
        <p:spPr>
          <a:xfrm>
            <a:off x="8321040" y="1554480"/>
            <a:ext cx="310896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RESULT</a:t>
            </a:r>
            <a:endParaRPr lang="en-US" sz="1200" dirty="0"/>
          </a:p>
        </p:txBody>
      </p:sp>
      <p:sp>
        <p:nvSpPr>
          <p:cNvPr id="31" name="Text 29"/>
          <p:cNvSpPr/>
          <p:nvPr/>
        </p:nvSpPr>
        <p:spPr>
          <a:xfrm>
            <a:off x="8321040" y="2011680"/>
            <a:ext cx="3108960" cy="365760"/>
          </a:xfrm>
          <a:prstGeom prst="rect">
            <a:avLst/>
          </a:prstGeom>
          <a:noFill/>
          <a:ln/>
        </p:spPr>
        <p:txBody>
          <a:bodyPr wrap="square" lIns="0" tIns="0" rIns="0" bIns="0"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Before</a:t>
            </a:r>
            <a:endParaRPr lang="en-US" sz="1300" dirty="0"/>
          </a:p>
        </p:txBody>
      </p:sp>
      <p:sp>
        <p:nvSpPr>
          <p:cNvPr id="32" name="Text 30"/>
          <p:cNvSpPr/>
          <p:nvPr/>
        </p:nvSpPr>
        <p:spPr>
          <a:xfrm>
            <a:off x="8321040" y="2331720"/>
            <a:ext cx="3108960" cy="45720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7,728,394 × 46</a:t>
            </a:r>
            <a:endParaRPr lang="en-US" sz="2200" dirty="0"/>
          </a:p>
        </p:txBody>
      </p:sp>
      <p:sp>
        <p:nvSpPr>
          <p:cNvPr id="33" name="Text 31"/>
          <p:cNvSpPr/>
          <p:nvPr/>
        </p:nvSpPr>
        <p:spPr>
          <a:xfrm>
            <a:off x="8321040" y="2926080"/>
            <a:ext cx="3108960" cy="548640"/>
          </a:xfrm>
          <a:prstGeom prst="rect">
            <a:avLst/>
          </a:prstGeom>
          <a:noFill/>
          <a:ln/>
        </p:spPr>
        <p:txBody>
          <a:bodyPr wrap="square" lIns="0" tIns="0" rIns="0" bIns="0" rtlCol="0" anchor="ctr"/>
          <a:lstStyle/>
          <a:p>
            <a:pPr marL="0" indent="0" algn="ctr">
              <a:buNone/>
            </a:pPr>
            <a:r>
              <a:rPr lang="en-US" sz="3600" b="1" dirty="0">
                <a:solidFill>
                  <a:srgbClr val="EE6C4D"/>
                </a:solidFill>
              </a:rPr>
              <a:t>↓</a:t>
            </a:r>
            <a:endParaRPr lang="en-US" sz="3600" dirty="0"/>
          </a:p>
        </p:txBody>
      </p:sp>
      <p:sp>
        <p:nvSpPr>
          <p:cNvPr id="34" name="Text 32"/>
          <p:cNvSpPr/>
          <p:nvPr/>
        </p:nvSpPr>
        <p:spPr>
          <a:xfrm>
            <a:off x="8321040" y="3566160"/>
            <a:ext cx="3108960" cy="365760"/>
          </a:xfrm>
          <a:prstGeom prst="rect">
            <a:avLst/>
          </a:prstGeom>
          <a:noFill/>
          <a:ln/>
        </p:spPr>
        <p:txBody>
          <a:bodyPr wrap="square" lIns="0" tIns="0" rIns="0" bIns="0"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After</a:t>
            </a:r>
            <a:endParaRPr lang="en-US" sz="1300" dirty="0"/>
          </a:p>
        </p:txBody>
      </p:sp>
      <p:sp>
        <p:nvSpPr>
          <p:cNvPr id="35" name="Text 33"/>
          <p:cNvSpPr/>
          <p:nvPr/>
        </p:nvSpPr>
        <p:spPr>
          <a:xfrm>
            <a:off x="8321040" y="3886200"/>
            <a:ext cx="3108960" cy="457200"/>
          </a:xfrm>
          <a:prstGeom prst="rect">
            <a:avLst/>
          </a:prstGeom>
          <a:noFill/>
          <a:ln/>
        </p:spPr>
        <p:txBody>
          <a:bodyPr wrap="square" lIns="0" tIns="0" rIns="0" bIns="0"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6,985,228 × 40</a:t>
            </a:r>
            <a:endParaRPr lang="en-US" sz="2200" dirty="0"/>
          </a:p>
        </p:txBody>
      </p:sp>
      <p:sp>
        <p:nvSpPr>
          <p:cNvPr id="36" name="Text 34"/>
          <p:cNvSpPr/>
          <p:nvPr/>
        </p:nvSpPr>
        <p:spPr>
          <a:xfrm>
            <a:off x="8321040" y="4434840"/>
            <a:ext cx="3108960" cy="365760"/>
          </a:xfrm>
          <a:prstGeom prst="rect">
            <a:avLst/>
          </a:prstGeom>
          <a:noFill/>
          <a:ln/>
        </p:spPr>
        <p:txBody>
          <a:bodyPr wrap="square" lIns="0" tIns="0" rIns="0" bIns="0" rtlCol="0" anchor="ctr"/>
          <a:lstStyle/>
          <a:p>
            <a:pPr marL="0" indent="0">
              <a:buNone/>
            </a:pPr>
            <a:r>
              <a:rPr lang="en-US" sz="1300" b="1" dirty="0">
                <a:solidFill>
                  <a:srgbClr val="EE6C4D"/>
                </a:solidFill>
                <a:latin typeface="Calibri" pitchFamily="34" charset="0"/>
                <a:ea typeface="Calibri" pitchFamily="34" charset="-122"/>
                <a:cs typeface="Calibri" pitchFamily="34" charset="-120"/>
              </a:rPr>
              <a:t>0 nulls remaining</a:t>
            </a:r>
            <a:endParaRPr lang="en-US" sz="1300" dirty="0"/>
          </a:p>
        </p:txBody>
      </p:sp>
      <p:sp>
        <p:nvSpPr>
          <p:cNvPr id="37" name="Text 35"/>
          <p:cNvSpPr/>
          <p:nvPr/>
        </p:nvSpPr>
        <p:spPr>
          <a:xfrm>
            <a:off x="8321040" y="5029200"/>
            <a:ext cx="310896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Memory: 7.3 GB → 5.4 GB</a:t>
            </a:r>
            <a:endParaRPr lang="en-US" sz="1300" dirty="0"/>
          </a:p>
        </p:txBody>
      </p:sp>
      <p:sp>
        <p:nvSpPr>
          <p:cNvPr id="38" name="Text 36"/>
          <p:cNvSpPr/>
          <p:nvPr/>
        </p:nvSpPr>
        <p:spPr>
          <a:xfrm>
            <a:off x="8321040" y="5349240"/>
            <a:ext cx="310896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via dtype optimization</a:t>
            </a:r>
            <a:endParaRPr lang="en-US" sz="1000" dirty="0"/>
          </a:p>
        </p:txBody>
      </p:sp>
      <p:sp>
        <p:nvSpPr>
          <p:cNvPr id="39" name="Text 37"/>
          <p:cNvSpPr/>
          <p:nvPr/>
        </p:nvSpPr>
        <p:spPr>
          <a:xfrm>
            <a:off x="8321040" y="5715000"/>
            <a:ext cx="3108960" cy="45720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Loaded in chunks of 500k rows to stay within free Colab RAM</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04 / FEATURE ENGINEERING</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Feature Engineering — 23 New Features</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5486400" cy="214884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6" name="Shape 4"/>
          <p:cNvSpPr/>
          <p:nvPr/>
        </p:nvSpPr>
        <p:spPr>
          <a:xfrm>
            <a:off x="457200" y="1371600"/>
            <a:ext cx="73152" cy="2148840"/>
          </a:xfrm>
          <a:prstGeom prst="rect">
            <a:avLst/>
          </a:prstGeom>
          <a:solidFill>
            <a:srgbClr val="EE6C4D"/>
          </a:solidFill>
          <a:ln/>
        </p:spPr>
        <p:txBody>
          <a:bodyPr/>
          <a:lstStyle/>
          <a:p>
            <a:endParaRPr lang="es-PY"/>
          </a:p>
        </p:txBody>
      </p:sp>
      <p:sp>
        <p:nvSpPr>
          <p:cNvPr id="7" name="Text 5"/>
          <p:cNvSpPr/>
          <p:nvPr/>
        </p:nvSpPr>
        <p:spPr>
          <a:xfrm>
            <a:off x="731520" y="1554480"/>
            <a:ext cx="5029200" cy="411480"/>
          </a:xfrm>
          <a:prstGeom prst="rect">
            <a:avLst/>
          </a:prstGeom>
          <a:noFill/>
          <a:ln/>
        </p:spPr>
        <p:txBody>
          <a:bodyPr wrap="square" lIns="0" tIns="0" rIns="0" bIns="0" rtlCol="0" anchor="ctr"/>
          <a:lstStyle/>
          <a:p>
            <a:pPr marL="0" indent="0">
              <a:buNone/>
            </a:pPr>
            <a:r>
              <a:rPr lang="en-US" sz="1600" b="1" dirty="0">
                <a:solidFill>
                  <a:srgbClr val="0B2545"/>
                </a:solidFill>
                <a:latin typeface="Calibri" pitchFamily="34" charset="0"/>
                <a:ea typeface="Calibri" pitchFamily="34" charset="-122"/>
                <a:cs typeface="Calibri" pitchFamily="34" charset="-120"/>
              </a:rPr>
              <a:t>Calendar features</a:t>
            </a:r>
            <a:endParaRPr lang="en-US" sz="1600" dirty="0"/>
          </a:p>
        </p:txBody>
      </p:sp>
      <p:sp>
        <p:nvSpPr>
          <p:cNvPr id="8" name="Text 6"/>
          <p:cNvSpPr/>
          <p:nvPr/>
        </p:nvSpPr>
        <p:spPr>
          <a:xfrm>
            <a:off x="731520" y="2011680"/>
            <a:ext cx="5029200" cy="141732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start_year, start_month, start_day</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start_hour, start_minute</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start_dayofweek, start_quarter, weekofyear</a:t>
            </a:r>
            <a:endParaRPr lang="en-US" sz="1200" dirty="0"/>
          </a:p>
        </p:txBody>
      </p:sp>
      <p:sp>
        <p:nvSpPr>
          <p:cNvPr id="9" name="Shape 7"/>
          <p:cNvSpPr/>
          <p:nvPr/>
        </p:nvSpPr>
        <p:spPr>
          <a:xfrm>
            <a:off x="6217920" y="1371600"/>
            <a:ext cx="5486400" cy="214884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10" name="Shape 8"/>
          <p:cNvSpPr/>
          <p:nvPr/>
        </p:nvSpPr>
        <p:spPr>
          <a:xfrm>
            <a:off x="6217920" y="1371600"/>
            <a:ext cx="73152" cy="2148840"/>
          </a:xfrm>
          <a:prstGeom prst="rect">
            <a:avLst/>
          </a:prstGeom>
          <a:solidFill>
            <a:srgbClr val="EE6C4D"/>
          </a:solidFill>
          <a:ln/>
        </p:spPr>
        <p:txBody>
          <a:bodyPr/>
          <a:lstStyle/>
          <a:p>
            <a:endParaRPr lang="es-PY"/>
          </a:p>
        </p:txBody>
      </p:sp>
      <p:sp>
        <p:nvSpPr>
          <p:cNvPr id="11" name="Text 9"/>
          <p:cNvSpPr/>
          <p:nvPr/>
        </p:nvSpPr>
        <p:spPr>
          <a:xfrm>
            <a:off x="6492240" y="1554480"/>
            <a:ext cx="5029200" cy="411480"/>
          </a:xfrm>
          <a:prstGeom prst="rect">
            <a:avLst/>
          </a:prstGeom>
          <a:noFill/>
          <a:ln/>
        </p:spPr>
        <p:txBody>
          <a:bodyPr wrap="square" lIns="0" tIns="0" rIns="0" bIns="0" rtlCol="0" anchor="ctr"/>
          <a:lstStyle/>
          <a:p>
            <a:pPr marL="0" indent="0">
              <a:buNone/>
            </a:pPr>
            <a:r>
              <a:rPr lang="en-US" sz="1600" b="1" dirty="0">
                <a:solidFill>
                  <a:srgbClr val="0B2545"/>
                </a:solidFill>
                <a:latin typeface="Calibri" pitchFamily="34" charset="0"/>
                <a:ea typeface="Calibri" pitchFamily="34" charset="-122"/>
                <a:cs typeface="Calibri" pitchFamily="34" charset="-120"/>
              </a:rPr>
              <a:t>Behavioral flags</a:t>
            </a:r>
            <a:endParaRPr lang="en-US" sz="1600" dirty="0"/>
          </a:p>
        </p:txBody>
      </p:sp>
      <p:sp>
        <p:nvSpPr>
          <p:cNvPr id="12" name="Text 10"/>
          <p:cNvSpPr/>
          <p:nvPr/>
        </p:nvSpPr>
        <p:spPr>
          <a:xfrm>
            <a:off x="6492240" y="2011680"/>
            <a:ext cx="5029200" cy="141732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is_weekend, is_business_hours</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is_morning_rush (7–9 AM)</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is_evening_rush (4–6 PM), is_rush_hour, is_night</a:t>
            </a:r>
            <a:endParaRPr lang="en-US" sz="1200" dirty="0"/>
          </a:p>
        </p:txBody>
      </p:sp>
      <p:sp>
        <p:nvSpPr>
          <p:cNvPr id="13" name="Shape 11"/>
          <p:cNvSpPr/>
          <p:nvPr/>
        </p:nvSpPr>
        <p:spPr>
          <a:xfrm>
            <a:off x="457200" y="3703320"/>
            <a:ext cx="5486400" cy="214884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14" name="Shape 12"/>
          <p:cNvSpPr/>
          <p:nvPr/>
        </p:nvSpPr>
        <p:spPr>
          <a:xfrm>
            <a:off x="457200" y="3703320"/>
            <a:ext cx="73152" cy="2148840"/>
          </a:xfrm>
          <a:prstGeom prst="rect">
            <a:avLst/>
          </a:prstGeom>
          <a:solidFill>
            <a:srgbClr val="EE6C4D"/>
          </a:solidFill>
          <a:ln/>
        </p:spPr>
        <p:txBody>
          <a:bodyPr/>
          <a:lstStyle/>
          <a:p>
            <a:endParaRPr lang="es-PY"/>
          </a:p>
        </p:txBody>
      </p:sp>
      <p:sp>
        <p:nvSpPr>
          <p:cNvPr id="15" name="Text 13"/>
          <p:cNvSpPr/>
          <p:nvPr/>
        </p:nvSpPr>
        <p:spPr>
          <a:xfrm>
            <a:off x="731520" y="3886200"/>
            <a:ext cx="5029200" cy="411480"/>
          </a:xfrm>
          <a:prstGeom prst="rect">
            <a:avLst/>
          </a:prstGeom>
          <a:noFill/>
          <a:ln/>
        </p:spPr>
        <p:txBody>
          <a:bodyPr wrap="square" lIns="0" tIns="0" rIns="0" bIns="0" rtlCol="0" anchor="ctr"/>
          <a:lstStyle/>
          <a:p>
            <a:pPr marL="0" indent="0">
              <a:buNone/>
            </a:pPr>
            <a:r>
              <a:rPr lang="en-US" sz="1600" b="1" dirty="0">
                <a:solidFill>
                  <a:srgbClr val="0B2545"/>
                </a:solidFill>
                <a:latin typeface="Calibri" pitchFamily="34" charset="0"/>
                <a:ea typeface="Calibri" pitchFamily="34" charset="-122"/>
                <a:cs typeface="Calibri" pitchFamily="34" charset="-120"/>
              </a:rPr>
              <a:t>Categorical buckets</a:t>
            </a:r>
            <a:endParaRPr lang="en-US" sz="1600" dirty="0"/>
          </a:p>
        </p:txBody>
      </p:sp>
      <p:sp>
        <p:nvSpPr>
          <p:cNvPr id="16" name="Text 14"/>
          <p:cNvSpPr/>
          <p:nvPr/>
        </p:nvSpPr>
        <p:spPr>
          <a:xfrm>
            <a:off x="731520" y="4343400"/>
            <a:ext cx="5029200" cy="141732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part_of_day (Morning/Afternoon/Evening/Night)</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season (Winter/Spring/Summer/Fall)</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Built with vectorized pd.cut()</a:t>
            </a:r>
            <a:endParaRPr lang="en-US" sz="1200" dirty="0"/>
          </a:p>
        </p:txBody>
      </p:sp>
      <p:sp>
        <p:nvSpPr>
          <p:cNvPr id="17" name="Shape 15"/>
          <p:cNvSpPr/>
          <p:nvPr/>
        </p:nvSpPr>
        <p:spPr>
          <a:xfrm>
            <a:off x="6217920" y="3703320"/>
            <a:ext cx="5486400" cy="2148840"/>
          </a:xfrm>
          <a:prstGeom prst="rect">
            <a:avLst/>
          </a:prstGeom>
          <a:solidFill>
            <a:srgbClr val="FFFFFF"/>
          </a:solidFill>
          <a:ln w="12700">
            <a:solidFill>
              <a:srgbClr val="E5E7EB"/>
            </a:solidFill>
            <a:prstDash val="solid"/>
          </a:ln>
          <a:effectLst>
            <a:outerShdw blurRad="76200" dist="25400" dir="5400000" algn="bl" rotWithShape="0">
              <a:srgbClr val="000000">
                <a:alpha val="6000"/>
              </a:srgbClr>
            </a:outerShdw>
          </a:effectLst>
        </p:spPr>
        <p:txBody>
          <a:bodyPr/>
          <a:lstStyle/>
          <a:p>
            <a:endParaRPr lang="es-PY"/>
          </a:p>
        </p:txBody>
      </p:sp>
      <p:sp>
        <p:nvSpPr>
          <p:cNvPr id="18" name="Shape 16"/>
          <p:cNvSpPr/>
          <p:nvPr/>
        </p:nvSpPr>
        <p:spPr>
          <a:xfrm>
            <a:off x="6217920" y="3703320"/>
            <a:ext cx="73152" cy="2148840"/>
          </a:xfrm>
          <a:prstGeom prst="rect">
            <a:avLst/>
          </a:prstGeom>
          <a:solidFill>
            <a:srgbClr val="EE6C4D"/>
          </a:solidFill>
          <a:ln/>
        </p:spPr>
        <p:txBody>
          <a:bodyPr/>
          <a:lstStyle/>
          <a:p>
            <a:endParaRPr lang="es-PY"/>
          </a:p>
        </p:txBody>
      </p:sp>
      <p:sp>
        <p:nvSpPr>
          <p:cNvPr id="19" name="Text 17"/>
          <p:cNvSpPr/>
          <p:nvPr/>
        </p:nvSpPr>
        <p:spPr>
          <a:xfrm>
            <a:off x="6492240" y="3886200"/>
            <a:ext cx="5029200" cy="411480"/>
          </a:xfrm>
          <a:prstGeom prst="rect">
            <a:avLst/>
          </a:prstGeom>
          <a:noFill/>
          <a:ln/>
        </p:spPr>
        <p:txBody>
          <a:bodyPr wrap="square" lIns="0" tIns="0" rIns="0" bIns="0" rtlCol="0" anchor="ctr"/>
          <a:lstStyle/>
          <a:p>
            <a:pPr marL="0" indent="0">
              <a:buNone/>
            </a:pPr>
            <a:r>
              <a:rPr lang="en-US" sz="1600" b="1" dirty="0">
                <a:solidFill>
                  <a:srgbClr val="0B2545"/>
                </a:solidFill>
                <a:latin typeface="Calibri" pitchFamily="34" charset="0"/>
                <a:ea typeface="Calibri" pitchFamily="34" charset="-122"/>
                <a:cs typeface="Calibri" pitchFamily="34" charset="-120"/>
              </a:rPr>
              <a:t>Cyclical encoding</a:t>
            </a:r>
            <a:endParaRPr lang="en-US" sz="1600" dirty="0"/>
          </a:p>
        </p:txBody>
      </p:sp>
      <p:sp>
        <p:nvSpPr>
          <p:cNvPr id="20" name="Text 18"/>
          <p:cNvSpPr/>
          <p:nvPr/>
        </p:nvSpPr>
        <p:spPr>
          <a:xfrm>
            <a:off x="6492240" y="4343400"/>
            <a:ext cx="5029200" cy="141732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hour_sin, hour_cos</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dayofweek_sin, dayofweek_cos</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month_sin, month_cos — preserves cycles</a:t>
            </a:r>
            <a:endParaRPr lang="en-US" sz="1200" dirty="0"/>
          </a:p>
        </p:txBody>
      </p:sp>
      <p:sp>
        <p:nvSpPr>
          <p:cNvPr id="21" name="Shape 19"/>
          <p:cNvSpPr/>
          <p:nvPr/>
        </p:nvSpPr>
        <p:spPr>
          <a:xfrm>
            <a:off x="457200" y="6126480"/>
            <a:ext cx="11247120" cy="411480"/>
          </a:xfrm>
          <a:prstGeom prst="rect">
            <a:avLst/>
          </a:prstGeom>
          <a:solidFill>
            <a:srgbClr val="0B2545"/>
          </a:solidFill>
          <a:ln/>
        </p:spPr>
        <p:txBody>
          <a:bodyPr/>
          <a:lstStyle/>
          <a:p>
            <a:endParaRPr lang="es-PY"/>
          </a:p>
        </p:txBody>
      </p:sp>
      <p:sp>
        <p:nvSpPr>
          <p:cNvPr id="22" name="Text 20"/>
          <p:cNvSpPr/>
          <p:nvPr/>
        </p:nvSpPr>
        <p:spPr>
          <a:xfrm>
            <a:off x="640080" y="6126480"/>
            <a:ext cx="10972800" cy="411480"/>
          </a:xfrm>
          <a:prstGeom prst="rect">
            <a:avLst/>
          </a:prstGeom>
          <a:noFill/>
          <a:ln/>
        </p:spPr>
        <p:txBody>
          <a:bodyPr wrap="square" lIns="0" tIns="0" rIns="0" bIns="0" rtlCol="0" anchor="ctr"/>
          <a:lstStyle/>
          <a:p>
            <a:pPr marL="0" indent="0">
              <a:buNone/>
            </a:pPr>
            <a:r>
              <a:rPr lang="en-US" sz="1200" b="1" dirty="0">
                <a:solidFill>
                  <a:srgbClr val="EE6C4D"/>
                </a:solidFill>
                <a:latin typeface="Calibri" pitchFamily="34" charset="0"/>
                <a:ea typeface="Calibri" pitchFamily="34" charset="-122"/>
                <a:cs typeface="Calibri" pitchFamily="34" charset="-120"/>
              </a:rPr>
              <a:t>+ duration_min</a:t>
            </a:r>
            <a:r>
              <a:rPr lang="en-US" sz="1200" dirty="0">
                <a:solidFill>
                  <a:srgbClr val="CADCFC"/>
                </a:solidFill>
                <a:latin typeface="Calibri" pitchFamily="34" charset="0"/>
                <a:ea typeface="Calibri" pitchFamily="34" charset="-122"/>
                <a:cs typeface="Calibri" pitchFamily="34" charset="-120"/>
              </a:rPr>
              <a:t>  capped at 99th percentile (779.9 min ≈ 13 hrs) — data-driven, not arbitrary  →  </a:t>
            </a:r>
            <a:r>
              <a:rPr lang="en-US" sz="1200" b="1" dirty="0">
                <a:solidFill>
                  <a:srgbClr val="FFFFFF"/>
                </a:solidFill>
                <a:latin typeface="Calibri" pitchFamily="34" charset="0"/>
                <a:ea typeface="Calibri" pitchFamily="34" charset="-122"/>
                <a:cs typeface="Calibri" pitchFamily="34" charset="-120"/>
              </a:rPr>
              <a:t>Final shape: 6.9M × 63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05 / EXPLORATORY ANALYSIS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EDA — Target &amp; Time Trends</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pic>
        <p:nvPicPr>
          <p:cNvPr id="5" name="Image 0" descr="/home/claude/ppt/images/severity_dist.png"/>
          <p:cNvPicPr>
            <a:picLocks noChangeAspect="1"/>
          </p:cNvPicPr>
          <p:nvPr/>
        </p:nvPicPr>
        <p:blipFill>
          <a:blip r:embed="rId3"/>
          <a:srcRect/>
          <a:stretch/>
        </p:blipFill>
        <p:spPr>
          <a:xfrm>
            <a:off x="457200" y="1280160"/>
            <a:ext cx="5760720" cy="2286000"/>
          </a:xfrm>
          <a:prstGeom prst="rect">
            <a:avLst/>
          </a:prstGeom>
        </p:spPr>
      </p:pic>
      <p:pic>
        <p:nvPicPr>
          <p:cNvPr id="6" name="Image 1" descr="/home/claude/ppt/images/over_time.png"/>
          <p:cNvPicPr>
            <a:picLocks noChangeAspect="1"/>
          </p:cNvPicPr>
          <p:nvPr/>
        </p:nvPicPr>
        <p:blipFill>
          <a:blip r:embed="rId4"/>
          <a:srcRect/>
          <a:stretch/>
        </p:blipFill>
        <p:spPr>
          <a:xfrm>
            <a:off x="6309360" y="1280160"/>
            <a:ext cx="5486400" cy="2286000"/>
          </a:xfrm>
          <a:prstGeom prst="rect">
            <a:avLst/>
          </a:prstGeom>
        </p:spPr>
      </p:pic>
      <p:pic>
        <p:nvPicPr>
          <p:cNvPr id="7" name="Image 2" descr="/home/claude/ppt/images/time_patterns.png"/>
          <p:cNvPicPr>
            <a:picLocks noChangeAspect="1"/>
          </p:cNvPicPr>
          <p:nvPr/>
        </p:nvPicPr>
        <p:blipFill>
          <a:blip r:embed="rId5"/>
          <a:srcRect/>
          <a:stretch/>
        </p:blipFill>
        <p:spPr>
          <a:xfrm>
            <a:off x="457200" y="3657600"/>
            <a:ext cx="11247120" cy="2194560"/>
          </a:xfrm>
          <a:prstGeom prst="rect">
            <a:avLst/>
          </a:prstGeom>
        </p:spPr>
      </p:pic>
      <p:sp>
        <p:nvSpPr>
          <p:cNvPr id="8" name="Shape 3"/>
          <p:cNvSpPr/>
          <p:nvPr/>
        </p:nvSpPr>
        <p:spPr>
          <a:xfrm>
            <a:off x="457200" y="5989320"/>
            <a:ext cx="11247120" cy="411480"/>
          </a:xfrm>
          <a:prstGeom prst="rect">
            <a:avLst/>
          </a:prstGeom>
          <a:solidFill>
            <a:srgbClr val="0B2545"/>
          </a:solidFill>
          <a:ln/>
        </p:spPr>
        <p:txBody>
          <a:bodyPr/>
          <a:lstStyle/>
          <a:p>
            <a:endParaRPr lang="es-PY"/>
          </a:p>
        </p:txBody>
      </p:sp>
      <p:sp>
        <p:nvSpPr>
          <p:cNvPr id="9" name="Text 4"/>
          <p:cNvSpPr/>
          <p:nvPr/>
        </p:nvSpPr>
        <p:spPr>
          <a:xfrm>
            <a:off x="640080" y="5989320"/>
            <a:ext cx="10972800" cy="411480"/>
          </a:xfrm>
          <a:prstGeom prst="rect">
            <a:avLst/>
          </a:prstGeom>
          <a:noFill/>
          <a:ln/>
        </p:spPr>
        <p:txBody>
          <a:bodyPr wrap="square" lIns="0" tIns="0" rIns="0" bIns="0" rtlCol="0" anchor="ctr"/>
          <a:lstStyle/>
          <a:p>
            <a:pPr marL="0" indent="0">
              <a:buNone/>
            </a:pPr>
            <a:r>
              <a:rPr lang="en-US" sz="1100" b="1" dirty="0">
                <a:solidFill>
                  <a:srgbClr val="EE6C4D"/>
                </a:solidFill>
                <a:latin typeface="Calibri" pitchFamily="34" charset="0"/>
                <a:ea typeface="Calibri" pitchFamily="34" charset="-122"/>
                <a:cs typeface="Calibri" pitchFamily="34" charset="-120"/>
              </a:rPr>
              <a:t>INSIGHT:  </a:t>
            </a:r>
            <a:r>
              <a:rPr lang="en-US" sz="1100" dirty="0">
                <a:solidFill>
                  <a:srgbClr val="FFFFFF"/>
                </a:solidFill>
                <a:latin typeface="Calibri" pitchFamily="34" charset="0"/>
                <a:ea typeface="Calibri" pitchFamily="34" charset="-122"/>
                <a:cs typeface="Calibri" pitchFamily="34" charset="-120"/>
              </a:rPr>
              <a:t>Two clear rush-hour peaks (8 AM, 5 PM)  •  weekends quieter  •  rising trend 2016 → 2021  •  </a:t>
            </a:r>
            <a:r>
              <a:rPr lang="en-US" sz="1100" i="1" dirty="0">
                <a:solidFill>
                  <a:srgbClr val="CADCFC"/>
                </a:solidFill>
                <a:latin typeface="Calibri" pitchFamily="34" charset="0"/>
                <a:ea typeface="Calibri" pitchFamily="34" charset="-122"/>
                <a:cs typeface="Calibri" pitchFamily="34" charset="-120"/>
              </a:rPr>
              <a:t>2023 partial year 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05 / EXPLORATORY ANALYSIS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EDA — Geography &amp; Weather</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pic>
        <p:nvPicPr>
          <p:cNvPr id="5" name="Image 0" descr="/home/claude/ppt/images/hotspots.png"/>
          <p:cNvPicPr>
            <a:picLocks noChangeAspect="1"/>
          </p:cNvPicPr>
          <p:nvPr/>
        </p:nvPicPr>
        <p:blipFill>
          <a:blip r:embed="rId3"/>
          <a:srcRect/>
          <a:stretch/>
        </p:blipFill>
        <p:spPr>
          <a:xfrm>
            <a:off x="457200" y="1280160"/>
            <a:ext cx="5760720" cy="2377440"/>
          </a:xfrm>
          <a:prstGeom prst="rect">
            <a:avLst/>
          </a:prstGeom>
        </p:spPr>
      </p:pic>
      <p:pic>
        <p:nvPicPr>
          <p:cNvPr id="6" name="Image 1" descr="/home/claude/ppt/images/weather1.png"/>
          <p:cNvPicPr>
            <a:picLocks noChangeAspect="1"/>
          </p:cNvPicPr>
          <p:nvPr/>
        </p:nvPicPr>
        <p:blipFill>
          <a:blip r:embed="rId4"/>
          <a:srcRect/>
          <a:stretch/>
        </p:blipFill>
        <p:spPr>
          <a:xfrm>
            <a:off x="6309360" y="1280160"/>
            <a:ext cx="5486400" cy="2377440"/>
          </a:xfrm>
          <a:prstGeom prst="rect">
            <a:avLst/>
          </a:prstGeom>
        </p:spPr>
      </p:pic>
      <p:pic>
        <p:nvPicPr>
          <p:cNvPr id="7" name="Image 2" descr="/home/claude/ppt/images/weather2.png"/>
          <p:cNvPicPr>
            <a:picLocks noChangeAspect="1"/>
          </p:cNvPicPr>
          <p:nvPr/>
        </p:nvPicPr>
        <p:blipFill>
          <a:blip r:embed="rId5"/>
          <a:srcRect/>
          <a:stretch/>
        </p:blipFill>
        <p:spPr>
          <a:xfrm>
            <a:off x="457200" y="3749040"/>
            <a:ext cx="5760720" cy="2194560"/>
          </a:xfrm>
          <a:prstGeom prst="rect">
            <a:avLst/>
          </a:prstGeom>
        </p:spPr>
      </p:pic>
      <p:pic>
        <p:nvPicPr>
          <p:cNvPr id="8" name="Image 3" descr="/home/claude/ppt/images/duration.png"/>
          <p:cNvPicPr>
            <a:picLocks noChangeAspect="1"/>
          </p:cNvPicPr>
          <p:nvPr/>
        </p:nvPicPr>
        <p:blipFill>
          <a:blip r:embed="rId6"/>
          <a:srcRect/>
          <a:stretch/>
        </p:blipFill>
        <p:spPr>
          <a:xfrm>
            <a:off x="6309360" y="3749040"/>
            <a:ext cx="5486400" cy="2194560"/>
          </a:xfrm>
          <a:prstGeom prst="rect">
            <a:avLst/>
          </a:prstGeom>
        </p:spPr>
      </p:pic>
      <p:sp>
        <p:nvSpPr>
          <p:cNvPr id="9" name="Shape 3"/>
          <p:cNvSpPr/>
          <p:nvPr/>
        </p:nvSpPr>
        <p:spPr>
          <a:xfrm>
            <a:off x="457200" y="5989320"/>
            <a:ext cx="11247120" cy="411480"/>
          </a:xfrm>
          <a:prstGeom prst="rect">
            <a:avLst/>
          </a:prstGeom>
          <a:solidFill>
            <a:srgbClr val="0B2545"/>
          </a:solidFill>
          <a:ln/>
        </p:spPr>
        <p:txBody>
          <a:bodyPr/>
          <a:lstStyle/>
          <a:p>
            <a:endParaRPr lang="es-PY"/>
          </a:p>
        </p:txBody>
      </p:sp>
      <p:sp>
        <p:nvSpPr>
          <p:cNvPr id="10" name="Text 4"/>
          <p:cNvSpPr/>
          <p:nvPr/>
        </p:nvSpPr>
        <p:spPr>
          <a:xfrm>
            <a:off x="640080" y="5989320"/>
            <a:ext cx="10972800" cy="411480"/>
          </a:xfrm>
          <a:prstGeom prst="rect">
            <a:avLst/>
          </a:prstGeom>
          <a:noFill/>
          <a:ln/>
        </p:spPr>
        <p:txBody>
          <a:bodyPr wrap="square" lIns="0" tIns="0" rIns="0" bIns="0" rtlCol="0" anchor="ctr"/>
          <a:lstStyle/>
          <a:p>
            <a:pPr marL="0" indent="0">
              <a:buNone/>
            </a:pPr>
            <a:r>
              <a:rPr lang="en-US" sz="1100" b="1" dirty="0">
                <a:solidFill>
                  <a:srgbClr val="EE6C4D"/>
                </a:solidFill>
                <a:latin typeface="Calibri" pitchFamily="34" charset="0"/>
                <a:ea typeface="Calibri" pitchFamily="34" charset="-122"/>
                <a:cs typeface="Calibri" pitchFamily="34" charset="-120"/>
              </a:rPr>
              <a:t>INSIGHT:  </a:t>
            </a:r>
            <a:r>
              <a:rPr lang="en-US" sz="1100" dirty="0">
                <a:solidFill>
                  <a:srgbClr val="FFFFFF"/>
                </a:solidFill>
                <a:latin typeface="Calibri" pitchFamily="34" charset="0"/>
                <a:ea typeface="Calibri" pitchFamily="34" charset="-122"/>
                <a:cs typeface="Calibri" pitchFamily="34" charset="-120"/>
              </a:rPr>
              <a:t>CA, FL, TX dominate  •  visibility spike at 10 mi (default value, treat with caution)  •  duration heavily right-skewed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05 / EXPLORATORY ANALYSIS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EDA — Road Features &amp; Correlations</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pic>
        <p:nvPicPr>
          <p:cNvPr id="5" name="Image 0" descr="/home/claude/ppt/images/road_features.png"/>
          <p:cNvPicPr>
            <a:picLocks noChangeAspect="1"/>
          </p:cNvPicPr>
          <p:nvPr/>
        </p:nvPicPr>
        <p:blipFill>
          <a:blip r:embed="rId3"/>
          <a:srcRect/>
          <a:stretch/>
        </p:blipFill>
        <p:spPr>
          <a:xfrm>
            <a:off x="457200" y="1280160"/>
            <a:ext cx="5760720" cy="4572000"/>
          </a:xfrm>
          <a:prstGeom prst="rect">
            <a:avLst/>
          </a:prstGeom>
        </p:spPr>
      </p:pic>
      <p:pic>
        <p:nvPicPr>
          <p:cNvPr id="6" name="Image 1" descr="/home/claude/ppt/images/correlation.png"/>
          <p:cNvPicPr>
            <a:picLocks noChangeAspect="1"/>
          </p:cNvPicPr>
          <p:nvPr/>
        </p:nvPicPr>
        <p:blipFill>
          <a:blip r:embed="rId4"/>
          <a:srcRect/>
          <a:stretch/>
        </p:blipFill>
        <p:spPr>
          <a:xfrm>
            <a:off x="6309360" y="1280160"/>
            <a:ext cx="5486400" cy="4572000"/>
          </a:xfrm>
          <a:prstGeom prst="rect">
            <a:avLst/>
          </a:prstGeom>
        </p:spPr>
      </p:pic>
      <p:sp>
        <p:nvSpPr>
          <p:cNvPr id="7" name="Shape 3"/>
          <p:cNvSpPr/>
          <p:nvPr/>
        </p:nvSpPr>
        <p:spPr>
          <a:xfrm>
            <a:off x="457200" y="5989320"/>
            <a:ext cx="11247120" cy="411480"/>
          </a:xfrm>
          <a:prstGeom prst="rect">
            <a:avLst/>
          </a:prstGeom>
          <a:solidFill>
            <a:srgbClr val="0B2545"/>
          </a:solidFill>
          <a:ln/>
        </p:spPr>
        <p:txBody>
          <a:bodyPr/>
          <a:lstStyle/>
          <a:p>
            <a:endParaRPr lang="es-PY"/>
          </a:p>
        </p:txBody>
      </p:sp>
      <p:sp>
        <p:nvSpPr>
          <p:cNvPr id="8" name="Text 4"/>
          <p:cNvSpPr/>
          <p:nvPr/>
        </p:nvSpPr>
        <p:spPr>
          <a:xfrm>
            <a:off x="640080" y="5989320"/>
            <a:ext cx="10972800" cy="411480"/>
          </a:xfrm>
          <a:prstGeom prst="rect">
            <a:avLst/>
          </a:prstGeom>
          <a:noFill/>
          <a:ln/>
        </p:spPr>
        <p:txBody>
          <a:bodyPr wrap="square" lIns="0" tIns="0" rIns="0" bIns="0" rtlCol="0" anchor="ctr"/>
          <a:lstStyle/>
          <a:p>
            <a:pPr marL="0" indent="0">
              <a:buNone/>
            </a:pPr>
            <a:r>
              <a:rPr lang="en-US" sz="1100" b="1" dirty="0">
                <a:solidFill>
                  <a:srgbClr val="EE6C4D"/>
                </a:solidFill>
                <a:latin typeface="Calibri" pitchFamily="34" charset="0"/>
                <a:ea typeface="Calibri" pitchFamily="34" charset="-122"/>
                <a:cs typeface="Calibri" pitchFamily="34" charset="-120"/>
              </a:rPr>
              <a:t>INSIGHT:  </a:t>
            </a:r>
            <a:r>
              <a:rPr lang="en-US" sz="1100" dirty="0">
                <a:solidFill>
                  <a:srgbClr val="FFFFFF"/>
                </a:solidFill>
                <a:latin typeface="Calibri" pitchFamily="34" charset="0"/>
                <a:ea typeface="Calibri" pitchFamily="34" charset="-122"/>
                <a:cs typeface="Calibri" pitchFamily="34" charset="-120"/>
              </a:rPr>
              <a:t>Junctions have the highest avg severity  •  weak feature-target correlations confirm this is a hard non-linear problem</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06 / METHODS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Experimental Methodology</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1783080" cy="914400"/>
          </a:xfrm>
          <a:prstGeom prst="rect">
            <a:avLst/>
          </a:prstGeom>
          <a:solidFill>
            <a:srgbClr val="0B2545"/>
          </a:solidFill>
          <a:ln/>
        </p:spPr>
        <p:txBody>
          <a:bodyPr/>
          <a:lstStyle/>
          <a:p>
            <a:endParaRPr lang="es-PY"/>
          </a:p>
        </p:txBody>
      </p:sp>
      <p:sp>
        <p:nvSpPr>
          <p:cNvPr id="6" name="Text 4"/>
          <p:cNvSpPr/>
          <p:nvPr/>
        </p:nvSpPr>
        <p:spPr>
          <a:xfrm>
            <a:off x="457200" y="1371600"/>
            <a:ext cx="17830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Data</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Load</a:t>
            </a:r>
            <a:endParaRPr lang="en-US" sz="1300" dirty="0"/>
          </a:p>
        </p:txBody>
      </p:sp>
      <p:sp>
        <p:nvSpPr>
          <p:cNvPr id="7" name="Text 5"/>
          <p:cNvSpPr/>
          <p:nvPr/>
        </p:nvSpPr>
        <p:spPr>
          <a:xfrm>
            <a:off x="2240280" y="1417320"/>
            <a:ext cx="164592" cy="914400"/>
          </a:xfrm>
          <a:prstGeom prst="rect">
            <a:avLst/>
          </a:prstGeom>
          <a:noFill/>
          <a:ln/>
        </p:spPr>
        <p:txBody>
          <a:bodyPr wrap="square" lIns="0" tIns="0" rIns="0" bIns="0" rtlCol="0" anchor="ctr"/>
          <a:lstStyle/>
          <a:p>
            <a:pPr marL="0" indent="0" algn="ctr">
              <a:buNone/>
            </a:pPr>
            <a:r>
              <a:rPr lang="en-US" sz="2200" b="1" dirty="0">
                <a:solidFill>
                  <a:srgbClr val="0B2545"/>
                </a:solidFill>
              </a:rPr>
              <a:t>→</a:t>
            </a:r>
            <a:endParaRPr lang="en-US" sz="2200" dirty="0"/>
          </a:p>
        </p:txBody>
      </p:sp>
      <p:sp>
        <p:nvSpPr>
          <p:cNvPr id="8" name="Shape 6"/>
          <p:cNvSpPr/>
          <p:nvPr/>
        </p:nvSpPr>
        <p:spPr>
          <a:xfrm>
            <a:off x="2404872" y="1371600"/>
            <a:ext cx="1783080" cy="914400"/>
          </a:xfrm>
          <a:prstGeom prst="rect">
            <a:avLst/>
          </a:prstGeom>
          <a:solidFill>
            <a:srgbClr val="0B2545"/>
          </a:solidFill>
          <a:ln/>
        </p:spPr>
        <p:txBody>
          <a:bodyPr/>
          <a:lstStyle/>
          <a:p>
            <a:endParaRPr lang="es-PY"/>
          </a:p>
        </p:txBody>
      </p:sp>
      <p:sp>
        <p:nvSpPr>
          <p:cNvPr id="9" name="Text 7"/>
          <p:cNvSpPr/>
          <p:nvPr/>
        </p:nvSpPr>
        <p:spPr>
          <a:xfrm>
            <a:off x="2404872" y="1371600"/>
            <a:ext cx="17830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Clean</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 Impute</a:t>
            </a:r>
            <a:endParaRPr lang="en-US" sz="1300" dirty="0"/>
          </a:p>
        </p:txBody>
      </p:sp>
      <p:sp>
        <p:nvSpPr>
          <p:cNvPr id="10" name="Text 8"/>
          <p:cNvSpPr/>
          <p:nvPr/>
        </p:nvSpPr>
        <p:spPr>
          <a:xfrm>
            <a:off x="4187952" y="1417320"/>
            <a:ext cx="164592" cy="914400"/>
          </a:xfrm>
          <a:prstGeom prst="rect">
            <a:avLst/>
          </a:prstGeom>
          <a:noFill/>
          <a:ln/>
        </p:spPr>
        <p:txBody>
          <a:bodyPr wrap="square" lIns="0" tIns="0" rIns="0" bIns="0" rtlCol="0" anchor="ctr"/>
          <a:lstStyle/>
          <a:p>
            <a:pPr marL="0" indent="0" algn="ctr">
              <a:buNone/>
            </a:pPr>
            <a:r>
              <a:rPr lang="en-US" sz="2200" b="1" dirty="0">
                <a:solidFill>
                  <a:srgbClr val="0B2545"/>
                </a:solidFill>
              </a:rPr>
              <a:t>→</a:t>
            </a:r>
            <a:endParaRPr lang="en-US" sz="2200" dirty="0"/>
          </a:p>
        </p:txBody>
      </p:sp>
      <p:sp>
        <p:nvSpPr>
          <p:cNvPr id="11" name="Shape 9"/>
          <p:cNvSpPr/>
          <p:nvPr/>
        </p:nvSpPr>
        <p:spPr>
          <a:xfrm>
            <a:off x="4352544" y="1371600"/>
            <a:ext cx="1783080" cy="914400"/>
          </a:xfrm>
          <a:prstGeom prst="rect">
            <a:avLst/>
          </a:prstGeom>
          <a:solidFill>
            <a:srgbClr val="0B2545"/>
          </a:solidFill>
          <a:ln/>
        </p:spPr>
        <p:txBody>
          <a:bodyPr/>
          <a:lstStyle/>
          <a:p>
            <a:endParaRPr lang="es-PY"/>
          </a:p>
        </p:txBody>
      </p:sp>
      <p:sp>
        <p:nvSpPr>
          <p:cNvPr id="12" name="Text 10"/>
          <p:cNvSpPr/>
          <p:nvPr/>
        </p:nvSpPr>
        <p:spPr>
          <a:xfrm>
            <a:off x="4352544" y="1371600"/>
            <a:ext cx="17830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Engineer</a:t>
            </a:r>
            <a:endParaRPr lang="en-US" sz="1300" dirty="0"/>
          </a:p>
        </p:txBody>
      </p:sp>
      <p:sp>
        <p:nvSpPr>
          <p:cNvPr id="13" name="Text 11"/>
          <p:cNvSpPr/>
          <p:nvPr/>
        </p:nvSpPr>
        <p:spPr>
          <a:xfrm>
            <a:off x="6135624" y="1417320"/>
            <a:ext cx="164592" cy="914400"/>
          </a:xfrm>
          <a:prstGeom prst="rect">
            <a:avLst/>
          </a:prstGeom>
          <a:noFill/>
          <a:ln/>
        </p:spPr>
        <p:txBody>
          <a:bodyPr wrap="square" lIns="0" tIns="0" rIns="0" bIns="0" rtlCol="0" anchor="ctr"/>
          <a:lstStyle/>
          <a:p>
            <a:pPr marL="0" indent="0" algn="ctr">
              <a:buNone/>
            </a:pPr>
            <a:r>
              <a:rPr lang="en-US" sz="2200" b="1" dirty="0">
                <a:solidFill>
                  <a:srgbClr val="0B2545"/>
                </a:solidFill>
              </a:rPr>
              <a:t>→</a:t>
            </a:r>
            <a:endParaRPr lang="en-US" sz="2200" dirty="0"/>
          </a:p>
        </p:txBody>
      </p:sp>
      <p:sp>
        <p:nvSpPr>
          <p:cNvPr id="14" name="Shape 12"/>
          <p:cNvSpPr/>
          <p:nvPr/>
        </p:nvSpPr>
        <p:spPr>
          <a:xfrm>
            <a:off x="6300216" y="1371600"/>
            <a:ext cx="1783080" cy="914400"/>
          </a:xfrm>
          <a:prstGeom prst="rect">
            <a:avLst/>
          </a:prstGeom>
          <a:solidFill>
            <a:srgbClr val="0B2545"/>
          </a:solidFill>
          <a:ln/>
        </p:spPr>
        <p:txBody>
          <a:bodyPr/>
          <a:lstStyle/>
          <a:p>
            <a:endParaRPr lang="es-PY"/>
          </a:p>
        </p:txBody>
      </p:sp>
      <p:sp>
        <p:nvSpPr>
          <p:cNvPr id="15" name="Text 13"/>
          <p:cNvSpPr/>
          <p:nvPr/>
        </p:nvSpPr>
        <p:spPr>
          <a:xfrm>
            <a:off x="6300216" y="1371600"/>
            <a:ext cx="17830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Sample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 Encode</a:t>
            </a:r>
            <a:endParaRPr lang="en-US" sz="1300" dirty="0"/>
          </a:p>
        </p:txBody>
      </p:sp>
      <p:sp>
        <p:nvSpPr>
          <p:cNvPr id="16" name="Text 14"/>
          <p:cNvSpPr/>
          <p:nvPr/>
        </p:nvSpPr>
        <p:spPr>
          <a:xfrm>
            <a:off x="8083296" y="1417320"/>
            <a:ext cx="164592" cy="914400"/>
          </a:xfrm>
          <a:prstGeom prst="rect">
            <a:avLst/>
          </a:prstGeom>
          <a:noFill/>
          <a:ln/>
        </p:spPr>
        <p:txBody>
          <a:bodyPr wrap="square" lIns="0" tIns="0" rIns="0" bIns="0" rtlCol="0" anchor="ctr"/>
          <a:lstStyle/>
          <a:p>
            <a:pPr marL="0" indent="0" algn="ctr">
              <a:buNone/>
            </a:pPr>
            <a:r>
              <a:rPr lang="en-US" sz="2200" b="1" dirty="0">
                <a:solidFill>
                  <a:srgbClr val="0B2545"/>
                </a:solidFill>
              </a:rPr>
              <a:t>→</a:t>
            </a:r>
            <a:endParaRPr lang="en-US" sz="2200" dirty="0"/>
          </a:p>
        </p:txBody>
      </p:sp>
      <p:sp>
        <p:nvSpPr>
          <p:cNvPr id="17" name="Shape 15"/>
          <p:cNvSpPr/>
          <p:nvPr/>
        </p:nvSpPr>
        <p:spPr>
          <a:xfrm>
            <a:off x="8247888" y="1371600"/>
            <a:ext cx="1783080" cy="914400"/>
          </a:xfrm>
          <a:prstGeom prst="rect">
            <a:avLst/>
          </a:prstGeom>
          <a:solidFill>
            <a:srgbClr val="EE6C4D"/>
          </a:solidFill>
          <a:ln/>
        </p:spPr>
        <p:txBody>
          <a:bodyPr/>
          <a:lstStyle/>
          <a:p>
            <a:endParaRPr lang="es-PY"/>
          </a:p>
        </p:txBody>
      </p:sp>
      <p:sp>
        <p:nvSpPr>
          <p:cNvPr id="18" name="Text 16"/>
          <p:cNvSpPr/>
          <p:nvPr/>
        </p:nvSpPr>
        <p:spPr>
          <a:xfrm>
            <a:off x="8247888" y="1371600"/>
            <a:ext cx="17830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Train</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 GridSearch</a:t>
            </a:r>
            <a:endParaRPr lang="en-US" sz="1300" dirty="0"/>
          </a:p>
        </p:txBody>
      </p:sp>
      <p:sp>
        <p:nvSpPr>
          <p:cNvPr id="19" name="Text 17"/>
          <p:cNvSpPr/>
          <p:nvPr/>
        </p:nvSpPr>
        <p:spPr>
          <a:xfrm>
            <a:off x="10030968" y="1417320"/>
            <a:ext cx="164592" cy="914400"/>
          </a:xfrm>
          <a:prstGeom prst="rect">
            <a:avLst/>
          </a:prstGeom>
          <a:noFill/>
          <a:ln/>
        </p:spPr>
        <p:txBody>
          <a:bodyPr wrap="square" lIns="0" tIns="0" rIns="0" bIns="0" rtlCol="0" anchor="ctr"/>
          <a:lstStyle/>
          <a:p>
            <a:pPr marL="0" indent="0" algn="ctr">
              <a:buNone/>
            </a:pPr>
            <a:r>
              <a:rPr lang="en-US" sz="2200" b="1" dirty="0">
                <a:solidFill>
                  <a:srgbClr val="0B2545"/>
                </a:solidFill>
              </a:rPr>
              <a:t>→</a:t>
            </a:r>
            <a:endParaRPr lang="en-US" sz="2200" dirty="0"/>
          </a:p>
        </p:txBody>
      </p:sp>
      <p:sp>
        <p:nvSpPr>
          <p:cNvPr id="20" name="Shape 18"/>
          <p:cNvSpPr/>
          <p:nvPr/>
        </p:nvSpPr>
        <p:spPr>
          <a:xfrm>
            <a:off x="10195560" y="1371600"/>
            <a:ext cx="1783080" cy="914400"/>
          </a:xfrm>
          <a:prstGeom prst="rect">
            <a:avLst/>
          </a:prstGeom>
          <a:solidFill>
            <a:srgbClr val="0B2545"/>
          </a:solidFill>
          <a:ln/>
        </p:spPr>
        <p:txBody>
          <a:bodyPr/>
          <a:lstStyle/>
          <a:p>
            <a:endParaRPr lang="es-PY"/>
          </a:p>
        </p:txBody>
      </p:sp>
      <p:sp>
        <p:nvSpPr>
          <p:cNvPr id="21" name="Text 19"/>
          <p:cNvSpPr/>
          <p:nvPr/>
        </p:nvSpPr>
        <p:spPr>
          <a:xfrm>
            <a:off x="10195560" y="1371600"/>
            <a:ext cx="17830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Evaluate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 Compare</a:t>
            </a:r>
            <a:endParaRPr lang="en-US" sz="1300" dirty="0"/>
          </a:p>
        </p:txBody>
      </p:sp>
      <p:sp>
        <p:nvSpPr>
          <p:cNvPr id="22" name="Shape 20"/>
          <p:cNvSpPr/>
          <p:nvPr/>
        </p:nvSpPr>
        <p:spPr>
          <a:xfrm>
            <a:off x="457200" y="2651760"/>
            <a:ext cx="5577840" cy="3566160"/>
          </a:xfrm>
          <a:prstGeom prst="rect">
            <a:avLst/>
          </a:prstGeom>
          <a:solidFill>
            <a:srgbClr val="FFFFFF"/>
          </a:solidFill>
          <a:ln w="12700">
            <a:solidFill>
              <a:srgbClr val="E5E7EB"/>
            </a:solidFill>
            <a:prstDash val="solid"/>
          </a:ln>
        </p:spPr>
        <p:txBody>
          <a:bodyPr/>
          <a:lstStyle/>
          <a:p>
            <a:endParaRPr lang="es-PY"/>
          </a:p>
        </p:txBody>
      </p:sp>
      <p:sp>
        <p:nvSpPr>
          <p:cNvPr id="23" name="Text 21"/>
          <p:cNvSpPr/>
          <p:nvPr/>
        </p:nvSpPr>
        <p:spPr>
          <a:xfrm>
            <a:off x="731520" y="2788920"/>
            <a:ext cx="50292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CLASS-IMBALANCE STRATEGY</a:t>
            </a:r>
            <a:endParaRPr lang="en-US" sz="1200" dirty="0"/>
          </a:p>
        </p:txBody>
      </p:sp>
      <p:sp>
        <p:nvSpPr>
          <p:cNvPr id="24" name="Text 22"/>
          <p:cNvSpPr/>
          <p:nvPr/>
        </p:nvSpPr>
        <p:spPr>
          <a:xfrm>
            <a:off x="731520" y="3154680"/>
            <a:ext cx="5029200" cy="365760"/>
          </a:xfrm>
          <a:prstGeom prst="rect">
            <a:avLst/>
          </a:prstGeom>
          <a:noFill/>
          <a:ln/>
        </p:spPr>
        <p:txBody>
          <a:bodyPr wrap="square" lIns="0" tIns="0" rIns="0" bIns="0" rtlCol="0" anchor="ctr"/>
          <a:lstStyle/>
          <a:p>
            <a:pPr marL="0" indent="0">
              <a:buNone/>
            </a:pPr>
            <a:r>
              <a:rPr lang="en-US" sz="1600" b="1" dirty="0">
                <a:solidFill>
                  <a:srgbClr val="0B2545"/>
                </a:solidFill>
                <a:latin typeface="Consolas" pitchFamily="34" charset="0"/>
                <a:ea typeface="Consolas" pitchFamily="34" charset="-122"/>
                <a:cs typeface="Consolas" pitchFamily="34" charset="-120"/>
              </a:rPr>
              <a:t>class_weight = 'balanced'</a:t>
            </a:r>
            <a:endParaRPr lang="en-US" sz="1600" dirty="0"/>
          </a:p>
        </p:txBody>
      </p:sp>
      <p:sp>
        <p:nvSpPr>
          <p:cNvPr id="25" name="Text 23"/>
          <p:cNvSpPr/>
          <p:nvPr/>
        </p:nvSpPr>
        <p:spPr>
          <a:xfrm>
            <a:off x="731520" y="3611880"/>
            <a:ext cx="5029200" cy="320040"/>
          </a:xfrm>
          <a:prstGeom prst="rect">
            <a:avLst/>
          </a:prstGeom>
          <a:noFill/>
          <a:ln/>
        </p:spPr>
        <p:txBody>
          <a:bodyPr wrap="square" lIns="0" tIns="0" rIns="0" bIns="0" rtlCol="0" anchor="ctr"/>
          <a:lstStyle/>
          <a:p>
            <a:pPr marL="0" indent="0">
              <a:buNone/>
            </a:pPr>
            <a:r>
              <a:rPr lang="en-US" sz="1300" b="1" dirty="0">
                <a:solidFill>
                  <a:srgbClr val="1B1B1B"/>
                </a:solidFill>
                <a:latin typeface="Calibri" pitchFamily="34" charset="0"/>
                <a:ea typeface="Calibri" pitchFamily="34" charset="-122"/>
                <a:cs typeface="Calibri" pitchFamily="34" charset="-120"/>
              </a:rPr>
              <a:t>Why not undersampling?</a:t>
            </a:r>
            <a:endParaRPr lang="en-US" sz="1300" dirty="0"/>
          </a:p>
        </p:txBody>
      </p:sp>
      <p:sp>
        <p:nvSpPr>
          <p:cNvPr id="26" name="Text 24"/>
          <p:cNvSpPr/>
          <p:nvPr/>
        </p:nvSpPr>
        <p:spPr>
          <a:xfrm>
            <a:off x="731520" y="3977640"/>
            <a:ext cx="5029200" cy="219456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Would discard ~96% of data (5.3M+ rows)</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Real Sev 2 patterns lost forever</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Class weights solve it without data loss</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Result: LightGBM Sev 1 recall = 0.95</a:t>
            </a:r>
            <a:endParaRPr lang="en-US" sz="1200" dirty="0"/>
          </a:p>
        </p:txBody>
      </p:sp>
      <p:sp>
        <p:nvSpPr>
          <p:cNvPr id="27" name="Shape 25"/>
          <p:cNvSpPr/>
          <p:nvPr/>
        </p:nvSpPr>
        <p:spPr>
          <a:xfrm>
            <a:off x="6309360" y="2651760"/>
            <a:ext cx="5394960" cy="3566160"/>
          </a:xfrm>
          <a:prstGeom prst="rect">
            <a:avLst/>
          </a:prstGeom>
          <a:solidFill>
            <a:srgbClr val="FFFFFF"/>
          </a:solidFill>
          <a:ln w="12700">
            <a:solidFill>
              <a:srgbClr val="E5E7EB"/>
            </a:solidFill>
            <a:prstDash val="solid"/>
          </a:ln>
        </p:spPr>
        <p:txBody>
          <a:bodyPr/>
          <a:lstStyle/>
          <a:p>
            <a:endParaRPr lang="es-PY"/>
          </a:p>
        </p:txBody>
      </p:sp>
      <p:sp>
        <p:nvSpPr>
          <p:cNvPr id="28" name="Text 26"/>
          <p:cNvSpPr/>
          <p:nvPr/>
        </p:nvSpPr>
        <p:spPr>
          <a:xfrm>
            <a:off x="6583680" y="2788920"/>
            <a:ext cx="484632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EVALUATION SETUP</a:t>
            </a:r>
            <a:endParaRPr lang="en-US" sz="1200" dirty="0"/>
          </a:p>
        </p:txBody>
      </p:sp>
      <p:sp>
        <p:nvSpPr>
          <p:cNvPr id="29" name="Text 27"/>
          <p:cNvSpPr/>
          <p:nvPr/>
        </p:nvSpPr>
        <p:spPr>
          <a:xfrm>
            <a:off x="6583680" y="3200400"/>
            <a:ext cx="1828800" cy="365760"/>
          </a:xfrm>
          <a:prstGeom prst="rect">
            <a:avLst/>
          </a:prstGeom>
          <a:noFill/>
          <a:ln/>
        </p:spPr>
        <p:txBody>
          <a:bodyPr wrap="square" lIns="0" tIns="0" rIns="0" bIns="0" rtlCol="0" anchor="ctr"/>
          <a:lstStyle/>
          <a:p>
            <a:pPr marL="0" indent="0">
              <a:buNone/>
            </a:pPr>
            <a:r>
              <a:rPr lang="en-US" sz="1100" b="1" dirty="0">
                <a:solidFill>
                  <a:srgbClr val="0B2545"/>
                </a:solidFill>
                <a:latin typeface="Calibri" pitchFamily="34" charset="0"/>
                <a:ea typeface="Calibri" pitchFamily="34" charset="-122"/>
                <a:cs typeface="Calibri" pitchFamily="34" charset="-120"/>
              </a:rPr>
              <a:t>Train / test split</a:t>
            </a:r>
            <a:endParaRPr lang="en-US" sz="1100" dirty="0"/>
          </a:p>
        </p:txBody>
      </p:sp>
      <p:sp>
        <p:nvSpPr>
          <p:cNvPr id="30" name="Text 28"/>
          <p:cNvSpPr/>
          <p:nvPr/>
        </p:nvSpPr>
        <p:spPr>
          <a:xfrm>
            <a:off x="8412480" y="3200400"/>
            <a:ext cx="32004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80 / 20  •  stratified</a:t>
            </a:r>
            <a:endParaRPr lang="en-US" sz="1100" dirty="0"/>
          </a:p>
        </p:txBody>
      </p:sp>
      <p:sp>
        <p:nvSpPr>
          <p:cNvPr id="31" name="Text 29"/>
          <p:cNvSpPr/>
          <p:nvPr/>
        </p:nvSpPr>
        <p:spPr>
          <a:xfrm>
            <a:off x="6583680" y="3657600"/>
            <a:ext cx="1828800" cy="365760"/>
          </a:xfrm>
          <a:prstGeom prst="rect">
            <a:avLst/>
          </a:prstGeom>
          <a:noFill/>
          <a:ln/>
        </p:spPr>
        <p:txBody>
          <a:bodyPr wrap="square" lIns="0" tIns="0" rIns="0" bIns="0" rtlCol="0" anchor="ctr"/>
          <a:lstStyle/>
          <a:p>
            <a:pPr marL="0" indent="0">
              <a:buNone/>
            </a:pPr>
            <a:r>
              <a:rPr lang="en-US" sz="1100" b="1" dirty="0">
                <a:solidFill>
                  <a:srgbClr val="0B2545"/>
                </a:solidFill>
                <a:latin typeface="Calibri" pitchFamily="34" charset="0"/>
                <a:ea typeface="Calibri" pitchFamily="34" charset="-122"/>
                <a:cs typeface="Calibri" pitchFamily="34" charset="-120"/>
              </a:rPr>
              <a:t>GridSearch CV</a:t>
            </a:r>
            <a:endParaRPr lang="en-US" sz="1100" dirty="0"/>
          </a:p>
        </p:txBody>
      </p:sp>
      <p:sp>
        <p:nvSpPr>
          <p:cNvPr id="32" name="Text 30"/>
          <p:cNvSpPr/>
          <p:nvPr/>
        </p:nvSpPr>
        <p:spPr>
          <a:xfrm>
            <a:off x="8412480" y="3657600"/>
            <a:ext cx="32004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3-fold cross validation</a:t>
            </a:r>
            <a:endParaRPr lang="en-US" sz="1100" dirty="0"/>
          </a:p>
        </p:txBody>
      </p:sp>
      <p:sp>
        <p:nvSpPr>
          <p:cNvPr id="33" name="Text 31"/>
          <p:cNvSpPr/>
          <p:nvPr/>
        </p:nvSpPr>
        <p:spPr>
          <a:xfrm>
            <a:off x="6583680" y="4114800"/>
            <a:ext cx="1828800" cy="365760"/>
          </a:xfrm>
          <a:prstGeom prst="rect">
            <a:avLst/>
          </a:prstGeom>
          <a:noFill/>
          <a:ln/>
        </p:spPr>
        <p:txBody>
          <a:bodyPr wrap="square" lIns="0" tIns="0" rIns="0" bIns="0" rtlCol="0" anchor="ctr"/>
          <a:lstStyle/>
          <a:p>
            <a:pPr marL="0" indent="0">
              <a:buNone/>
            </a:pPr>
            <a:r>
              <a:rPr lang="en-US" sz="1100" b="1" dirty="0">
                <a:solidFill>
                  <a:srgbClr val="0B2545"/>
                </a:solidFill>
                <a:latin typeface="Calibri" pitchFamily="34" charset="0"/>
                <a:ea typeface="Calibri" pitchFamily="34" charset="-122"/>
                <a:cs typeface="Calibri" pitchFamily="34" charset="-120"/>
              </a:rPr>
              <a:t>Sample size</a:t>
            </a:r>
            <a:endParaRPr lang="en-US" sz="1100" dirty="0"/>
          </a:p>
        </p:txBody>
      </p:sp>
      <p:sp>
        <p:nvSpPr>
          <p:cNvPr id="34" name="Text 32"/>
          <p:cNvSpPr/>
          <p:nvPr/>
        </p:nvSpPr>
        <p:spPr>
          <a:xfrm>
            <a:off x="8412480" y="4114800"/>
            <a:ext cx="32004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100k (LR, RF, MLP)  •  500k (LightGBM)</a:t>
            </a:r>
            <a:endParaRPr lang="en-US" sz="1100" dirty="0"/>
          </a:p>
        </p:txBody>
      </p:sp>
      <p:sp>
        <p:nvSpPr>
          <p:cNvPr id="35" name="Text 33"/>
          <p:cNvSpPr/>
          <p:nvPr/>
        </p:nvSpPr>
        <p:spPr>
          <a:xfrm>
            <a:off x="6583680" y="4572000"/>
            <a:ext cx="1828800" cy="365760"/>
          </a:xfrm>
          <a:prstGeom prst="rect">
            <a:avLst/>
          </a:prstGeom>
          <a:noFill/>
          <a:ln/>
        </p:spPr>
        <p:txBody>
          <a:bodyPr wrap="square" lIns="0" tIns="0" rIns="0" bIns="0" rtlCol="0" anchor="ctr"/>
          <a:lstStyle/>
          <a:p>
            <a:pPr marL="0" indent="0">
              <a:buNone/>
            </a:pPr>
            <a:r>
              <a:rPr lang="en-US" sz="1100" b="1" dirty="0">
                <a:solidFill>
                  <a:srgbClr val="0B2545"/>
                </a:solidFill>
                <a:latin typeface="Calibri" pitchFamily="34" charset="0"/>
                <a:ea typeface="Calibri" pitchFamily="34" charset="-122"/>
                <a:cs typeface="Calibri" pitchFamily="34" charset="-120"/>
              </a:rPr>
              <a:t>Primary metric</a:t>
            </a:r>
            <a:endParaRPr lang="en-US" sz="1100" dirty="0"/>
          </a:p>
        </p:txBody>
      </p:sp>
      <p:sp>
        <p:nvSpPr>
          <p:cNvPr id="36" name="Text 34"/>
          <p:cNvSpPr/>
          <p:nvPr/>
        </p:nvSpPr>
        <p:spPr>
          <a:xfrm>
            <a:off x="8412480" y="4572000"/>
            <a:ext cx="32004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Weighted F1 score</a:t>
            </a:r>
            <a:endParaRPr lang="en-US" sz="1100" dirty="0"/>
          </a:p>
        </p:txBody>
      </p:sp>
      <p:sp>
        <p:nvSpPr>
          <p:cNvPr id="37" name="Text 35"/>
          <p:cNvSpPr/>
          <p:nvPr/>
        </p:nvSpPr>
        <p:spPr>
          <a:xfrm>
            <a:off x="6583680" y="5029200"/>
            <a:ext cx="1828800" cy="365760"/>
          </a:xfrm>
          <a:prstGeom prst="rect">
            <a:avLst/>
          </a:prstGeom>
          <a:noFill/>
          <a:ln/>
        </p:spPr>
        <p:txBody>
          <a:bodyPr wrap="square" lIns="0" tIns="0" rIns="0" bIns="0" rtlCol="0" anchor="ctr"/>
          <a:lstStyle/>
          <a:p>
            <a:pPr marL="0" indent="0">
              <a:buNone/>
            </a:pPr>
            <a:r>
              <a:rPr lang="en-US" sz="1100" b="1" dirty="0">
                <a:solidFill>
                  <a:srgbClr val="0B2545"/>
                </a:solidFill>
                <a:latin typeface="Calibri" pitchFamily="34" charset="0"/>
                <a:ea typeface="Calibri" pitchFamily="34" charset="-122"/>
                <a:cs typeface="Calibri" pitchFamily="34" charset="-120"/>
              </a:rPr>
              <a:t>Secondary metrics</a:t>
            </a:r>
            <a:endParaRPr lang="en-US" sz="1100" dirty="0"/>
          </a:p>
        </p:txBody>
      </p:sp>
      <p:sp>
        <p:nvSpPr>
          <p:cNvPr id="38" name="Text 36"/>
          <p:cNvSpPr/>
          <p:nvPr/>
        </p:nvSpPr>
        <p:spPr>
          <a:xfrm>
            <a:off x="8412480" y="5029200"/>
            <a:ext cx="32004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per-class recall (safety priority)</a:t>
            </a:r>
            <a:endParaRPr lang="en-US" sz="1100" dirty="0"/>
          </a:p>
        </p:txBody>
      </p:sp>
      <p:sp>
        <p:nvSpPr>
          <p:cNvPr id="39" name="Text 37"/>
          <p:cNvSpPr/>
          <p:nvPr/>
        </p:nvSpPr>
        <p:spPr>
          <a:xfrm>
            <a:off x="6583680" y="5486400"/>
            <a:ext cx="1828800" cy="365760"/>
          </a:xfrm>
          <a:prstGeom prst="rect">
            <a:avLst/>
          </a:prstGeom>
          <a:noFill/>
          <a:ln/>
        </p:spPr>
        <p:txBody>
          <a:bodyPr wrap="square" lIns="0" tIns="0" rIns="0" bIns="0" rtlCol="0" anchor="ctr"/>
          <a:lstStyle/>
          <a:p>
            <a:pPr marL="0" indent="0">
              <a:buNone/>
            </a:pPr>
            <a:r>
              <a:rPr lang="en-US" sz="1100" b="1" dirty="0">
                <a:solidFill>
                  <a:srgbClr val="0B2545"/>
                </a:solidFill>
                <a:latin typeface="Calibri" pitchFamily="34" charset="0"/>
                <a:ea typeface="Calibri" pitchFamily="34" charset="-122"/>
                <a:cs typeface="Calibri" pitchFamily="34" charset="-120"/>
              </a:rPr>
              <a:t>Why not accuracy</a:t>
            </a:r>
            <a:endParaRPr lang="en-US" sz="1100" dirty="0"/>
          </a:p>
        </p:txBody>
      </p:sp>
      <p:sp>
        <p:nvSpPr>
          <p:cNvPr id="40" name="Text 38"/>
          <p:cNvSpPr/>
          <p:nvPr/>
        </p:nvSpPr>
        <p:spPr>
          <a:xfrm>
            <a:off x="8412480" y="5486400"/>
            <a:ext cx="32004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79.7% just by predicting Sev 2 — useless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07 / MODELS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Model 1 — Logistic Regression</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4572000" cy="4937760"/>
          </a:xfrm>
          <a:prstGeom prst="rect">
            <a:avLst/>
          </a:prstGeom>
          <a:solidFill>
            <a:srgbClr val="FFFFFF"/>
          </a:solidFill>
          <a:ln w="12700">
            <a:solidFill>
              <a:srgbClr val="E5E7EB"/>
            </a:solidFill>
            <a:prstDash val="solid"/>
          </a:ln>
        </p:spPr>
        <p:txBody>
          <a:bodyPr/>
          <a:lstStyle/>
          <a:p>
            <a:endParaRPr lang="es-PY"/>
          </a:p>
        </p:txBody>
      </p:sp>
      <p:sp>
        <p:nvSpPr>
          <p:cNvPr id="6" name="Text 4"/>
          <p:cNvSpPr/>
          <p:nvPr/>
        </p:nvSpPr>
        <p:spPr>
          <a:xfrm>
            <a:off x="731520" y="1554480"/>
            <a:ext cx="41148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ROLE: BASELINE</a:t>
            </a:r>
            <a:endParaRPr lang="en-US" sz="1200" dirty="0"/>
          </a:p>
        </p:txBody>
      </p:sp>
      <p:sp>
        <p:nvSpPr>
          <p:cNvPr id="7" name="Text 5"/>
          <p:cNvSpPr/>
          <p:nvPr/>
        </p:nvSpPr>
        <p:spPr>
          <a:xfrm>
            <a:off x="731520" y="1920240"/>
            <a:ext cx="4114800" cy="548640"/>
          </a:xfrm>
          <a:prstGeom prst="rect">
            <a:avLst/>
          </a:prstGeom>
          <a:noFill/>
          <a:ln/>
        </p:spPr>
        <p:txBody>
          <a:bodyPr wrap="square" lIns="0" tIns="0" rIns="0" bIns="0" rtlCol="0" anchor="ctr"/>
          <a:lstStyle/>
          <a:p>
            <a:pPr marL="0" indent="0">
              <a:buNone/>
            </a:pPr>
            <a:r>
              <a:rPr lang="en-US" sz="1400" i="1" dirty="0">
                <a:solidFill>
                  <a:srgbClr val="1B1B1B"/>
                </a:solidFill>
                <a:latin typeface="Calibri" pitchFamily="34" charset="0"/>
                <a:ea typeface="Calibri" pitchFamily="34" charset="-122"/>
                <a:cs typeface="Calibri" pitchFamily="34" charset="-120"/>
              </a:rPr>
              <a:t>Linear, interpretable, and fast — the model to beat.</a:t>
            </a:r>
            <a:endParaRPr lang="en-US" sz="1400" dirty="0"/>
          </a:p>
        </p:txBody>
      </p:sp>
      <p:sp>
        <p:nvSpPr>
          <p:cNvPr id="8" name="Text 6"/>
          <p:cNvSpPr/>
          <p:nvPr/>
        </p:nvSpPr>
        <p:spPr>
          <a:xfrm>
            <a:off x="731520" y="265176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HYPERPARAMETERS (GridSearch)</a:t>
            </a:r>
            <a:endParaRPr lang="en-US" sz="1100" dirty="0"/>
          </a:p>
        </p:txBody>
      </p:sp>
      <p:sp>
        <p:nvSpPr>
          <p:cNvPr id="9" name="Text 7"/>
          <p:cNvSpPr/>
          <p:nvPr/>
        </p:nvSpPr>
        <p:spPr>
          <a:xfrm>
            <a:off x="731520" y="2971800"/>
            <a:ext cx="411480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C ∈ {0.1, 1}</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solver = lbfgs</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class_weight = balanced</a:t>
            </a:r>
            <a:endParaRPr lang="en-US" sz="1200" dirty="0"/>
          </a:p>
        </p:txBody>
      </p:sp>
      <p:sp>
        <p:nvSpPr>
          <p:cNvPr id="10" name="Text 8"/>
          <p:cNvSpPr/>
          <p:nvPr/>
        </p:nvSpPr>
        <p:spPr>
          <a:xfrm>
            <a:off x="731520" y="429768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WHY THIS RESULT</a:t>
            </a:r>
            <a:endParaRPr lang="en-US" sz="1100" dirty="0"/>
          </a:p>
        </p:txBody>
      </p:sp>
      <p:sp>
        <p:nvSpPr>
          <p:cNvPr id="11" name="Text 9"/>
          <p:cNvSpPr/>
          <p:nvPr/>
        </p:nvSpPr>
        <p:spPr>
          <a:xfrm>
            <a:off x="731520" y="4617720"/>
            <a:ext cx="4114800" cy="155448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Linear decision boundaries cannot capture the non-linear interactions between weather, location, and time. The 0.52 score is expected and validates moving to non-linear models.</a:t>
            </a:r>
            <a:endParaRPr lang="en-US" sz="1200" dirty="0"/>
          </a:p>
        </p:txBody>
      </p:sp>
      <p:sp>
        <p:nvSpPr>
          <p:cNvPr id="12" name="Shape 10"/>
          <p:cNvSpPr/>
          <p:nvPr/>
        </p:nvSpPr>
        <p:spPr>
          <a:xfrm>
            <a:off x="5303520" y="1371600"/>
            <a:ext cx="6400800" cy="4937760"/>
          </a:xfrm>
          <a:prstGeom prst="rect">
            <a:avLst/>
          </a:prstGeom>
          <a:solidFill>
            <a:srgbClr val="0B2545"/>
          </a:solidFill>
          <a:ln/>
        </p:spPr>
        <p:txBody>
          <a:bodyPr/>
          <a:lstStyle/>
          <a:p>
            <a:endParaRPr lang="es-PY"/>
          </a:p>
        </p:txBody>
      </p:sp>
      <p:sp>
        <p:nvSpPr>
          <p:cNvPr id="13" name="Text 11"/>
          <p:cNvSpPr/>
          <p:nvPr/>
        </p:nvSpPr>
        <p:spPr>
          <a:xfrm>
            <a:off x="5577840" y="1645920"/>
            <a:ext cx="585216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WEIGHTED F1</a:t>
            </a:r>
            <a:endParaRPr lang="en-US" sz="1200" dirty="0"/>
          </a:p>
        </p:txBody>
      </p:sp>
      <p:sp>
        <p:nvSpPr>
          <p:cNvPr id="14" name="Text 12"/>
          <p:cNvSpPr/>
          <p:nvPr/>
        </p:nvSpPr>
        <p:spPr>
          <a:xfrm>
            <a:off x="5577840" y="2011680"/>
            <a:ext cx="5852160" cy="1005840"/>
          </a:xfrm>
          <a:prstGeom prst="rect">
            <a:avLst/>
          </a:prstGeom>
          <a:noFill/>
          <a:ln/>
        </p:spPr>
        <p:txBody>
          <a:bodyPr wrap="square" lIns="0" tIns="0" rIns="0" bIns="0" rtlCol="0" anchor="ctr"/>
          <a:lstStyle/>
          <a:p>
            <a:pPr marL="0" indent="0">
              <a:buNone/>
            </a:pPr>
            <a:r>
              <a:rPr lang="en-US" sz="7200" b="1" dirty="0">
                <a:solidFill>
                  <a:srgbClr val="FFFFFF"/>
                </a:solidFill>
                <a:latin typeface="Georgia" pitchFamily="34" charset="0"/>
                <a:ea typeface="Georgia" pitchFamily="34" charset="-122"/>
                <a:cs typeface="Georgia" pitchFamily="34" charset="-120"/>
              </a:rPr>
              <a:t>0.5192</a:t>
            </a:r>
            <a:endParaRPr lang="en-US" sz="7200" dirty="0"/>
          </a:p>
        </p:txBody>
      </p:sp>
      <p:sp>
        <p:nvSpPr>
          <p:cNvPr id="15" name="Text 13"/>
          <p:cNvSpPr/>
          <p:nvPr/>
        </p:nvSpPr>
        <p:spPr>
          <a:xfrm>
            <a:off x="5577840" y="3017520"/>
            <a:ext cx="5852160" cy="320040"/>
          </a:xfrm>
          <a:prstGeom prst="rect">
            <a:avLst/>
          </a:prstGeom>
          <a:noFill/>
          <a:ln/>
        </p:spPr>
        <p:txBody>
          <a:bodyPr wrap="square" lIns="0" tIns="0" rIns="0" bIns="0" rtlCol="0" anchor="ctr"/>
          <a:lstStyle/>
          <a:p>
            <a:pPr marL="0" indent="0">
              <a:buNone/>
            </a:pPr>
            <a:r>
              <a:rPr lang="en-US" sz="1100" i="1" dirty="0">
                <a:solidFill>
                  <a:srgbClr val="CADCFC"/>
                </a:solidFill>
                <a:latin typeface="Calibri" pitchFamily="34" charset="0"/>
                <a:ea typeface="Calibri" pitchFamily="34" charset="-122"/>
                <a:cs typeface="Calibri" pitchFamily="34" charset="-120"/>
              </a:rPr>
              <a:t>Per-class F1</a:t>
            </a:r>
            <a:endParaRPr lang="en-US" sz="1100" dirty="0"/>
          </a:p>
        </p:txBody>
      </p:sp>
      <p:sp>
        <p:nvSpPr>
          <p:cNvPr id="16" name="Text 14"/>
          <p:cNvSpPr/>
          <p:nvPr/>
        </p:nvSpPr>
        <p:spPr>
          <a:xfrm>
            <a:off x="5577840" y="338328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1</a:t>
            </a:r>
            <a:endParaRPr lang="en-US" sz="1200" dirty="0"/>
          </a:p>
        </p:txBody>
      </p:sp>
      <p:sp>
        <p:nvSpPr>
          <p:cNvPr id="17" name="Shape 15"/>
          <p:cNvSpPr/>
          <p:nvPr/>
        </p:nvSpPr>
        <p:spPr>
          <a:xfrm>
            <a:off x="6492240" y="3456432"/>
            <a:ext cx="4114800" cy="228600"/>
          </a:xfrm>
          <a:prstGeom prst="rect">
            <a:avLst/>
          </a:prstGeom>
          <a:solidFill>
            <a:srgbClr val="1B3A66"/>
          </a:solidFill>
          <a:ln/>
        </p:spPr>
        <p:txBody>
          <a:bodyPr/>
          <a:lstStyle/>
          <a:p>
            <a:endParaRPr lang="es-PY"/>
          </a:p>
        </p:txBody>
      </p:sp>
      <p:sp>
        <p:nvSpPr>
          <p:cNvPr id="18" name="Shape 16"/>
          <p:cNvSpPr/>
          <p:nvPr/>
        </p:nvSpPr>
        <p:spPr>
          <a:xfrm>
            <a:off x="6492240" y="3456432"/>
            <a:ext cx="493776" cy="228600"/>
          </a:xfrm>
          <a:prstGeom prst="rect">
            <a:avLst/>
          </a:prstGeom>
          <a:solidFill>
            <a:srgbClr val="EE6C4D"/>
          </a:solidFill>
          <a:ln/>
        </p:spPr>
        <p:txBody>
          <a:bodyPr/>
          <a:lstStyle/>
          <a:p>
            <a:endParaRPr lang="es-PY"/>
          </a:p>
        </p:txBody>
      </p:sp>
      <p:sp>
        <p:nvSpPr>
          <p:cNvPr id="19" name="Text 17"/>
          <p:cNvSpPr/>
          <p:nvPr/>
        </p:nvSpPr>
        <p:spPr>
          <a:xfrm>
            <a:off x="10698480" y="338328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0.12</a:t>
            </a:r>
            <a:endParaRPr lang="en-US" sz="1200" dirty="0"/>
          </a:p>
        </p:txBody>
      </p:sp>
      <p:sp>
        <p:nvSpPr>
          <p:cNvPr id="20" name="Text 18"/>
          <p:cNvSpPr/>
          <p:nvPr/>
        </p:nvSpPr>
        <p:spPr>
          <a:xfrm>
            <a:off x="5577840" y="388620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2</a:t>
            </a:r>
            <a:endParaRPr lang="en-US" sz="1200" dirty="0"/>
          </a:p>
        </p:txBody>
      </p:sp>
      <p:sp>
        <p:nvSpPr>
          <p:cNvPr id="21" name="Shape 19"/>
          <p:cNvSpPr/>
          <p:nvPr/>
        </p:nvSpPr>
        <p:spPr>
          <a:xfrm>
            <a:off x="6492240" y="3959352"/>
            <a:ext cx="4114800" cy="228600"/>
          </a:xfrm>
          <a:prstGeom prst="rect">
            <a:avLst/>
          </a:prstGeom>
          <a:solidFill>
            <a:srgbClr val="1B3A66"/>
          </a:solidFill>
          <a:ln/>
        </p:spPr>
        <p:txBody>
          <a:bodyPr/>
          <a:lstStyle/>
          <a:p>
            <a:endParaRPr lang="es-PY"/>
          </a:p>
        </p:txBody>
      </p:sp>
      <p:sp>
        <p:nvSpPr>
          <p:cNvPr id="22" name="Shape 20"/>
          <p:cNvSpPr/>
          <p:nvPr/>
        </p:nvSpPr>
        <p:spPr>
          <a:xfrm>
            <a:off x="6492240" y="3959352"/>
            <a:ext cx="2221992" cy="228600"/>
          </a:xfrm>
          <a:prstGeom prst="rect">
            <a:avLst/>
          </a:prstGeom>
          <a:solidFill>
            <a:srgbClr val="EE6C4D"/>
          </a:solidFill>
          <a:ln/>
        </p:spPr>
        <p:txBody>
          <a:bodyPr/>
          <a:lstStyle/>
          <a:p>
            <a:endParaRPr lang="es-PY"/>
          </a:p>
        </p:txBody>
      </p:sp>
      <p:sp>
        <p:nvSpPr>
          <p:cNvPr id="23" name="Text 21"/>
          <p:cNvSpPr/>
          <p:nvPr/>
        </p:nvSpPr>
        <p:spPr>
          <a:xfrm>
            <a:off x="10698480" y="388620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0.54</a:t>
            </a:r>
            <a:endParaRPr lang="en-US" sz="1200" dirty="0"/>
          </a:p>
        </p:txBody>
      </p:sp>
      <p:sp>
        <p:nvSpPr>
          <p:cNvPr id="24" name="Text 22"/>
          <p:cNvSpPr/>
          <p:nvPr/>
        </p:nvSpPr>
        <p:spPr>
          <a:xfrm>
            <a:off x="5577840" y="438912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3</a:t>
            </a:r>
            <a:endParaRPr lang="en-US" sz="1200" dirty="0"/>
          </a:p>
        </p:txBody>
      </p:sp>
      <p:sp>
        <p:nvSpPr>
          <p:cNvPr id="25" name="Shape 23"/>
          <p:cNvSpPr/>
          <p:nvPr/>
        </p:nvSpPr>
        <p:spPr>
          <a:xfrm>
            <a:off x="6492240" y="4462272"/>
            <a:ext cx="4114800" cy="228600"/>
          </a:xfrm>
          <a:prstGeom prst="rect">
            <a:avLst/>
          </a:prstGeom>
          <a:solidFill>
            <a:srgbClr val="1B3A66"/>
          </a:solidFill>
          <a:ln/>
        </p:spPr>
        <p:txBody>
          <a:bodyPr/>
          <a:lstStyle/>
          <a:p>
            <a:endParaRPr lang="es-PY"/>
          </a:p>
        </p:txBody>
      </p:sp>
      <p:sp>
        <p:nvSpPr>
          <p:cNvPr id="26" name="Shape 24"/>
          <p:cNvSpPr/>
          <p:nvPr/>
        </p:nvSpPr>
        <p:spPr>
          <a:xfrm>
            <a:off x="6492240" y="4462272"/>
            <a:ext cx="2139696" cy="228600"/>
          </a:xfrm>
          <a:prstGeom prst="rect">
            <a:avLst/>
          </a:prstGeom>
          <a:solidFill>
            <a:srgbClr val="EE6C4D"/>
          </a:solidFill>
          <a:ln/>
        </p:spPr>
        <p:txBody>
          <a:bodyPr/>
          <a:lstStyle/>
          <a:p>
            <a:endParaRPr lang="es-PY"/>
          </a:p>
        </p:txBody>
      </p:sp>
      <p:sp>
        <p:nvSpPr>
          <p:cNvPr id="27" name="Text 25"/>
          <p:cNvSpPr/>
          <p:nvPr/>
        </p:nvSpPr>
        <p:spPr>
          <a:xfrm>
            <a:off x="10698480" y="438912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0.52</a:t>
            </a:r>
            <a:endParaRPr lang="en-US" sz="1200" dirty="0"/>
          </a:p>
        </p:txBody>
      </p:sp>
      <p:sp>
        <p:nvSpPr>
          <p:cNvPr id="28" name="Text 26"/>
          <p:cNvSpPr/>
          <p:nvPr/>
        </p:nvSpPr>
        <p:spPr>
          <a:xfrm>
            <a:off x="5577840" y="489204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4</a:t>
            </a:r>
            <a:endParaRPr lang="en-US" sz="1200" dirty="0"/>
          </a:p>
        </p:txBody>
      </p:sp>
      <p:sp>
        <p:nvSpPr>
          <p:cNvPr id="29" name="Shape 27"/>
          <p:cNvSpPr/>
          <p:nvPr/>
        </p:nvSpPr>
        <p:spPr>
          <a:xfrm>
            <a:off x="6492240" y="4965192"/>
            <a:ext cx="4114800" cy="228600"/>
          </a:xfrm>
          <a:prstGeom prst="rect">
            <a:avLst/>
          </a:prstGeom>
          <a:solidFill>
            <a:srgbClr val="1B3A66"/>
          </a:solidFill>
          <a:ln/>
        </p:spPr>
        <p:txBody>
          <a:bodyPr/>
          <a:lstStyle/>
          <a:p>
            <a:endParaRPr lang="es-PY"/>
          </a:p>
        </p:txBody>
      </p:sp>
      <p:sp>
        <p:nvSpPr>
          <p:cNvPr id="30" name="Shape 28"/>
          <p:cNvSpPr/>
          <p:nvPr/>
        </p:nvSpPr>
        <p:spPr>
          <a:xfrm>
            <a:off x="6492240" y="4965192"/>
            <a:ext cx="617220" cy="228600"/>
          </a:xfrm>
          <a:prstGeom prst="rect">
            <a:avLst/>
          </a:prstGeom>
          <a:solidFill>
            <a:srgbClr val="EE6C4D"/>
          </a:solidFill>
          <a:ln/>
        </p:spPr>
        <p:txBody>
          <a:bodyPr/>
          <a:lstStyle/>
          <a:p>
            <a:endParaRPr lang="es-PY"/>
          </a:p>
        </p:txBody>
      </p:sp>
      <p:sp>
        <p:nvSpPr>
          <p:cNvPr id="31" name="Text 29"/>
          <p:cNvSpPr/>
          <p:nvPr/>
        </p:nvSpPr>
        <p:spPr>
          <a:xfrm>
            <a:off x="10698480" y="489204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0.15</a:t>
            </a:r>
            <a:endParaRPr lang="en-US" sz="1200" dirty="0"/>
          </a:p>
        </p:txBody>
      </p:sp>
      <p:sp>
        <p:nvSpPr>
          <p:cNvPr id="32" name="Text 30"/>
          <p:cNvSpPr/>
          <p:nvPr/>
        </p:nvSpPr>
        <p:spPr>
          <a:xfrm>
            <a:off x="5577840" y="5760720"/>
            <a:ext cx="585216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Train time: 11.5s  •  Sample: 100,000 rows  •  Grid: 4 fits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07 / MODELS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Model 2 — Random Forest</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4572000" cy="4937760"/>
          </a:xfrm>
          <a:prstGeom prst="rect">
            <a:avLst/>
          </a:prstGeom>
          <a:solidFill>
            <a:srgbClr val="FFFFFF"/>
          </a:solidFill>
          <a:ln w="12700">
            <a:solidFill>
              <a:srgbClr val="E5E7EB"/>
            </a:solidFill>
            <a:prstDash val="solid"/>
          </a:ln>
        </p:spPr>
        <p:txBody>
          <a:bodyPr/>
          <a:lstStyle/>
          <a:p>
            <a:endParaRPr lang="es-PY"/>
          </a:p>
        </p:txBody>
      </p:sp>
      <p:sp>
        <p:nvSpPr>
          <p:cNvPr id="6" name="Text 4"/>
          <p:cNvSpPr/>
          <p:nvPr/>
        </p:nvSpPr>
        <p:spPr>
          <a:xfrm>
            <a:off x="731520" y="1554480"/>
            <a:ext cx="41148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ROLE: NON-LINEAR ENSEMBLE</a:t>
            </a:r>
            <a:endParaRPr lang="en-US" sz="1200" dirty="0"/>
          </a:p>
        </p:txBody>
      </p:sp>
      <p:sp>
        <p:nvSpPr>
          <p:cNvPr id="7" name="Text 5"/>
          <p:cNvSpPr/>
          <p:nvPr/>
        </p:nvSpPr>
        <p:spPr>
          <a:xfrm>
            <a:off x="731520" y="1920240"/>
            <a:ext cx="4114800" cy="822960"/>
          </a:xfrm>
          <a:prstGeom prst="rect">
            <a:avLst/>
          </a:prstGeom>
          <a:noFill/>
          <a:ln/>
        </p:spPr>
        <p:txBody>
          <a:bodyPr wrap="square" lIns="0" tIns="0" rIns="0" bIns="0" rtlCol="0" anchor="ctr"/>
          <a:lstStyle/>
          <a:p>
            <a:pPr marL="0" indent="0">
              <a:buNone/>
            </a:pPr>
            <a:r>
              <a:rPr lang="en-US" sz="1400" i="1" dirty="0">
                <a:solidFill>
                  <a:srgbClr val="1B1B1B"/>
                </a:solidFill>
                <a:latin typeface="Calibri" pitchFamily="34" charset="0"/>
                <a:ea typeface="Calibri" pitchFamily="34" charset="-122"/>
                <a:cs typeface="Calibri" pitchFamily="34" charset="-120"/>
              </a:rPr>
              <a:t>100 to 200 deep decision trees voting together — captures non-linear interactions naturally.</a:t>
            </a:r>
            <a:endParaRPr lang="en-US" sz="1400" dirty="0"/>
          </a:p>
        </p:txBody>
      </p:sp>
      <p:sp>
        <p:nvSpPr>
          <p:cNvPr id="8" name="Text 6"/>
          <p:cNvSpPr/>
          <p:nvPr/>
        </p:nvSpPr>
        <p:spPr>
          <a:xfrm>
            <a:off x="731520" y="283464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HYPERPARAMETERS (GridSearch)</a:t>
            </a:r>
            <a:endParaRPr lang="en-US" sz="1100" dirty="0"/>
          </a:p>
        </p:txBody>
      </p:sp>
      <p:sp>
        <p:nvSpPr>
          <p:cNvPr id="9" name="Text 7"/>
          <p:cNvSpPr/>
          <p:nvPr/>
        </p:nvSpPr>
        <p:spPr>
          <a:xfrm>
            <a:off x="731520" y="3154680"/>
            <a:ext cx="411480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n_estimators ∈ {100, 200}</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max_depth ∈ {10, 15}</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class_weight = balanced</a:t>
            </a:r>
            <a:endParaRPr lang="en-US" sz="1200" dirty="0"/>
          </a:p>
        </p:txBody>
      </p:sp>
      <p:sp>
        <p:nvSpPr>
          <p:cNvPr id="10" name="Text 8"/>
          <p:cNvSpPr/>
          <p:nvPr/>
        </p:nvSpPr>
        <p:spPr>
          <a:xfrm>
            <a:off x="731520" y="443484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KEY OBSERVATION</a:t>
            </a:r>
            <a:endParaRPr lang="en-US" sz="1100" dirty="0"/>
          </a:p>
        </p:txBody>
      </p:sp>
      <p:sp>
        <p:nvSpPr>
          <p:cNvPr id="11" name="Text 9"/>
          <p:cNvSpPr/>
          <p:nvPr/>
        </p:nvSpPr>
        <p:spPr>
          <a:xfrm>
            <a:off x="731520" y="4754880"/>
            <a:ext cx="4114800" cy="146304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+0.24 jump over LR. Sev 1 recall hits 0.85 — the model genuinely finds rare events. Memory-heavy: this is why we capped RF at the 100k sample.</a:t>
            </a:r>
            <a:endParaRPr lang="en-US" sz="1200" dirty="0"/>
          </a:p>
        </p:txBody>
      </p:sp>
      <p:sp>
        <p:nvSpPr>
          <p:cNvPr id="12" name="Shape 10"/>
          <p:cNvSpPr/>
          <p:nvPr/>
        </p:nvSpPr>
        <p:spPr>
          <a:xfrm>
            <a:off x="5303520" y="1371600"/>
            <a:ext cx="6400800" cy="4937760"/>
          </a:xfrm>
          <a:prstGeom prst="rect">
            <a:avLst/>
          </a:prstGeom>
          <a:solidFill>
            <a:srgbClr val="0B2545"/>
          </a:solidFill>
          <a:ln/>
        </p:spPr>
        <p:txBody>
          <a:bodyPr/>
          <a:lstStyle/>
          <a:p>
            <a:endParaRPr lang="es-PY"/>
          </a:p>
        </p:txBody>
      </p:sp>
      <p:sp>
        <p:nvSpPr>
          <p:cNvPr id="13" name="Text 11"/>
          <p:cNvSpPr/>
          <p:nvPr/>
        </p:nvSpPr>
        <p:spPr>
          <a:xfrm>
            <a:off x="5577840" y="1645920"/>
            <a:ext cx="585216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WEIGHTED F1</a:t>
            </a:r>
            <a:endParaRPr lang="en-US" sz="1200" dirty="0"/>
          </a:p>
        </p:txBody>
      </p:sp>
      <p:sp>
        <p:nvSpPr>
          <p:cNvPr id="14" name="Text 12"/>
          <p:cNvSpPr/>
          <p:nvPr/>
        </p:nvSpPr>
        <p:spPr>
          <a:xfrm>
            <a:off x="5577840" y="2011680"/>
            <a:ext cx="5852160" cy="1005840"/>
          </a:xfrm>
          <a:prstGeom prst="rect">
            <a:avLst/>
          </a:prstGeom>
          <a:noFill/>
          <a:ln/>
        </p:spPr>
        <p:txBody>
          <a:bodyPr wrap="square" lIns="0" tIns="0" rIns="0" bIns="0" rtlCol="0" anchor="ctr"/>
          <a:lstStyle/>
          <a:p>
            <a:pPr marL="0" indent="0">
              <a:buNone/>
            </a:pPr>
            <a:r>
              <a:rPr lang="en-US" sz="7200" b="1" dirty="0">
                <a:solidFill>
                  <a:srgbClr val="FFFFFF"/>
                </a:solidFill>
                <a:latin typeface="Georgia" pitchFamily="34" charset="0"/>
                <a:ea typeface="Georgia" pitchFamily="34" charset="-122"/>
                <a:cs typeface="Georgia" pitchFamily="34" charset="-120"/>
              </a:rPr>
              <a:t>0.7589</a:t>
            </a:r>
            <a:endParaRPr lang="en-US" sz="7200" dirty="0"/>
          </a:p>
        </p:txBody>
      </p:sp>
      <p:sp>
        <p:nvSpPr>
          <p:cNvPr id="15" name="Text 13"/>
          <p:cNvSpPr/>
          <p:nvPr/>
        </p:nvSpPr>
        <p:spPr>
          <a:xfrm>
            <a:off x="5577840" y="3017520"/>
            <a:ext cx="5852160" cy="320040"/>
          </a:xfrm>
          <a:prstGeom prst="rect">
            <a:avLst/>
          </a:prstGeom>
          <a:noFill/>
          <a:ln/>
        </p:spPr>
        <p:txBody>
          <a:bodyPr wrap="square" lIns="0" tIns="0" rIns="0" bIns="0" rtlCol="0" anchor="ctr"/>
          <a:lstStyle/>
          <a:p>
            <a:pPr marL="0" indent="0">
              <a:buNone/>
            </a:pPr>
            <a:r>
              <a:rPr lang="en-US" sz="1100" i="1" dirty="0">
                <a:solidFill>
                  <a:srgbClr val="CADCFC"/>
                </a:solidFill>
                <a:latin typeface="Calibri" pitchFamily="34" charset="0"/>
                <a:ea typeface="Calibri" pitchFamily="34" charset="-122"/>
                <a:cs typeface="Calibri" pitchFamily="34" charset="-120"/>
              </a:rPr>
              <a:t>Per-class F1</a:t>
            </a:r>
            <a:endParaRPr lang="en-US" sz="1100" dirty="0"/>
          </a:p>
        </p:txBody>
      </p:sp>
      <p:sp>
        <p:nvSpPr>
          <p:cNvPr id="16" name="Text 14"/>
          <p:cNvSpPr/>
          <p:nvPr/>
        </p:nvSpPr>
        <p:spPr>
          <a:xfrm>
            <a:off x="5577840" y="338328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1</a:t>
            </a:r>
            <a:endParaRPr lang="en-US" sz="1200" dirty="0"/>
          </a:p>
        </p:txBody>
      </p:sp>
      <p:sp>
        <p:nvSpPr>
          <p:cNvPr id="17" name="Shape 15"/>
          <p:cNvSpPr/>
          <p:nvPr/>
        </p:nvSpPr>
        <p:spPr>
          <a:xfrm>
            <a:off x="6492240" y="3456432"/>
            <a:ext cx="4114800" cy="228600"/>
          </a:xfrm>
          <a:prstGeom prst="rect">
            <a:avLst/>
          </a:prstGeom>
          <a:solidFill>
            <a:srgbClr val="1B3A66"/>
          </a:solidFill>
          <a:ln/>
        </p:spPr>
        <p:txBody>
          <a:bodyPr/>
          <a:lstStyle/>
          <a:p>
            <a:endParaRPr lang="es-PY"/>
          </a:p>
        </p:txBody>
      </p:sp>
      <p:sp>
        <p:nvSpPr>
          <p:cNvPr id="18" name="Shape 16"/>
          <p:cNvSpPr/>
          <p:nvPr/>
        </p:nvSpPr>
        <p:spPr>
          <a:xfrm>
            <a:off x="6492240" y="3456432"/>
            <a:ext cx="1975104" cy="228600"/>
          </a:xfrm>
          <a:prstGeom prst="rect">
            <a:avLst/>
          </a:prstGeom>
          <a:solidFill>
            <a:srgbClr val="EE6C4D"/>
          </a:solidFill>
          <a:ln/>
        </p:spPr>
        <p:txBody>
          <a:bodyPr/>
          <a:lstStyle/>
          <a:p>
            <a:endParaRPr lang="es-PY"/>
          </a:p>
        </p:txBody>
      </p:sp>
      <p:sp>
        <p:nvSpPr>
          <p:cNvPr id="19" name="Text 17"/>
          <p:cNvSpPr/>
          <p:nvPr/>
        </p:nvSpPr>
        <p:spPr>
          <a:xfrm>
            <a:off x="10698480" y="338328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0.48</a:t>
            </a:r>
            <a:endParaRPr lang="en-US" sz="1200" dirty="0"/>
          </a:p>
        </p:txBody>
      </p:sp>
      <p:sp>
        <p:nvSpPr>
          <p:cNvPr id="20" name="Text 18"/>
          <p:cNvSpPr/>
          <p:nvPr/>
        </p:nvSpPr>
        <p:spPr>
          <a:xfrm>
            <a:off x="5577840" y="388620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2</a:t>
            </a:r>
            <a:endParaRPr lang="en-US" sz="1200" dirty="0"/>
          </a:p>
        </p:txBody>
      </p:sp>
      <p:sp>
        <p:nvSpPr>
          <p:cNvPr id="21" name="Shape 19"/>
          <p:cNvSpPr/>
          <p:nvPr/>
        </p:nvSpPr>
        <p:spPr>
          <a:xfrm>
            <a:off x="6492240" y="3959352"/>
            <a:ext cx="4114800" cy="228600"/>
          </a:xfrm>
          <a:prstGeom prst="rect">
            <a:avLst/>
          </a:prstGeom>
          <a:solidFill>
            <a:srgbClr val="1B3A66"/>
          </a:solidFill>
          <a:ln/>
        </p:spPr>
        <p:txBody>
          <a:bodyPr/>
          <a:lstStyle/>
          <a:p>
            <a:endParaRPr lang="es-PY"/>
          </a:p>
        </p:txBody>
      </p:sp>
      <p:sp>
        <p:nvSpPr>
          <p:cNvPr id="22" name="Shape 20"/>
          <p:cNvSpPr/>
          <p:nvPr/>
        </p:nvSpPr>
        <p:spPr>
          <a:xfrm>
            <a:off x="6492240" y="3959352"/>
            <a:ext cx="3374136" cy="228600"/>
          </a:xfrm>
          <a:prstGeom prst="rect">
            <a:avLst/>
          </a:prstGeom>
          <a:solidFill>
            <a:srgbClr val="EE6C4D"/>
          </a:solidFill>
          <a:ln/>
        </p:spPr>
        <p:txBody>
          <a:bodyPr/>
          <a:lstStyle/>
          <a:p>
            <a:endParaRPr lang="es-PY"/>
          </a:p>
        </p:txBody>
      </p:sp>
      <p:sp>
        <p:nvSpPr>
          <p:cNvPr id="23" name="Text 21"/>
          <p:cNvSpPr/>
          <p:nvPr/>
        </p:nvSpPr>
        <p:spPr>
          <a:xfrm>
            <a:off x="10698480" y="388620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0.82</a:t>
            </a:r>
            <a:endParaRPr lang="en-US" sz="1200" dirty="0"/>
          </a:p>
        </p:txBody>
      </p:sp>
      <p:sp>
        <p:nvSpPr>
          <p:cNvPr id="24" name="Text 22"/>
          <p:cNvSpPr/>
          <p:nvPr/>
        </p:nvSpPr>
        <p:spPr>
          <a:xfrm>
            <a:off x="5577840" y="438912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3</a:t>
            </a:r>
            <a:endParaRPr lang="en-US" sz="1200" dirty="0"/>
          </a:p>
        </p:txBody>
      </p:sp>
      <p:sp>
        <p:nvSpPr>
          <p:cNvPr id="25" name="Shape 23"/>
          <p:cNvSpPr/>
          <p:nvPr/>
        </p:nvSpPr>
        <p:spPr>
          <a:xfrm>
            <a:off x="6492240" y="4462272"/>
            <a:ext cx="4114800" cy="228600"/>
          </a:xfrm>
          <a:prstGeom prst="rect">
            <a:avLst/>
          </a:prstGeom>
          <a:solidFill>
            <a:srgbClr val="1B3A66"/>
          </a:solidFill>
          <a:ln/>
        </p:spPr>
        <p:txBody>
          <a:bodyPr/>
          <a:lstStyle/>
          <a:p>
            <a:endParaRPr lang="es-PY"/>
          </a:p>
        </p:txBody>
      </p:sp>
      <p:sp>
        <p:nvSpPr>
          <p:cNvPr id="26" name="Shape 24"/>
          <p:cNvSpPr/>
          <p:nvPr/>
        </p:nvSpPr>
        <p:spPr>
          <a:xfrm>
            <a:off x="6492240" y="4462272"/>
            <a:ext cx="2386584" cy="228600"/>
          </a:xfrm>
          <a:prstGeom prst="rect">
            <a:avLst/>
          </a:prstGeom>
          <a:solidFill>
            <a:srgbClr val="EE6C4D"/>
          </a:solidFill>
          <a:ln/>
        </p:spPr>
        <p:txBody>
          <a:bodyPr/>
          <a:lstStyle/>
          <a:p>
            <a:endParaRPr lang="es-PY"/>
          </a:p>
        </p:txBody>
      </p:sp>
      <p:sp>
        <p:nvSpPr>
          <p:cNvPr id="27" name="Text 25"/>
          <p:cNvSpPr/>
          <p:nvPr/>
        </p:nvSpPr>
        <p:spPr>
          <a:xfrm>
            <a:off x="10698480" y="438912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0.58</a:t>
            </a:r>
            <a:endParaRPr lang="en-US" sz="1200" dirty="0"/>
          </a:p>
        </p:txBody>
      </p:sp>
      <p:sp>
        <p:nvSpPr>
          <p:cNvPr id="28" name="Text 26"/>
          <p:cNvSpPr/>
          <p:nvPr/>
        </p:nvSpPr>
        <p:spPr>
          <a:xfrm>
            <a:off x="5577840" y="489204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4</a:t>
            </a:r>
            <a:endParaRPr lang="en-US" sz="1200" dirty="0"/>
          </a:p>
        </p:txBody>
      </p:sp>
      <p:sp>
        <p:nvSpPr>
          <p:cNvPr id="29" name="Shape 27"/>
          <p:cNvSpPr/>
          <p:nvPr/>
        </p:nvSpPr>
        <p:spPr>
          <a:xfrm>
            <a:off x="6492240" y="4965192"/>
            <a:ext cx="4114800" cy="228600"/>
          </a:xfrm>
          <a:prstGeom prst="rect">
            <a:avLst/>
          </a:prstGeom>
          <a:solidFill>
            <a:srgbClr val="1B3A66"/>
          </a:solidFill>
          <a:ln/>
        </p:spPr>
        <p:txBody>
          <a:bodyPr/>
          <a:lstStyle/>
          <a:p>
            <a:endParaRPr lang="es-PY"/>
          </a:p>
        </p:txBody>
      </p:sp>
      <p:sp>
        <p:nvSpPr>
          <p:cNvPr id="30" name="Shape 28"/>
          <p:cNvSpPr/>
          <p:nvPr/>
        </p:nvSpPr>
        <p:spPr>
          <a:xfrm>
            <a:off x="6492240" y="4965192"/>
            <a:ext cx="1193292" cy="228600"/>
          </a:xfrm>
          <a:prstGeom prst="rect">
            <a:avLst/>
          </a:prstGeom>
          <a:solidFill>
            <a:srgbClr val="EE6C4D"/>
          </a:solidFill>
          <a:ln/>
        </p:spPr>
        <p:txBody>
          <a:bodyPr/>
          <a:lstStyle/>
          <a:p>
            <a:endParaRPr lang="es-PY"/>
          </a:p>
        </p:txBody>
      </p:sp>
      <p:sp>
        <p:nvSpPr>
          <p:cNvPr id="31" name="Text 29"/>
          <p:cNvSpPr/>
          <p:nvPr/>
        </p:nvSpPr>
        <p:spPr>
          <a:xfrm>
            <a:off x="10698480" y="489204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0.29</a:t>
            </a:r>
            <a:endParaRPr lang="en-US" sz="1200" dirty="0"/>
          </a:p>
        </p:txBody>
      </p:sp>
      <p:sp>
        <p:nvSpPr>
          <p:cNvPr id="32" name="Text 30"/>
          <p:cNvSpPr/>
          <p:nvPr/>
        </p:nvSpPr>
        <p:spPr>
          <a:xfrm>
            <a:off x="5577840" y="5760720"/>
            <a:ext cx="585216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Train time: 237s  •  Sample: 100,000 rows  •  Grid: 12 fits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07 / MODELS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Model 3 — LightGBM 🏆</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4572000" cy="4937760"/>
          </a:xfrm>
          <a:prstGeom prst="rect">
            <a:avLst/>
          </a:prstGeom>
          <a:solidFill>
            <a:srgbClr val="FFFFFF"/>
          </a:solidFill>
          <a:ln w="38100">
            <a:solidFill>
              <a:srgbClr val="D4A017"/>
            </a:solidFill>
            <a:prstDash val="solid"/>
          </a:ln>
        </p:spPr>
        <p:txBody>
          <a:bodyPr/>
          <a:lstStyle/>
          <a:p>
            <a:endParaRPr lang="es-PY"/>
          </a:p>
        </p:txBody>
      </p:sp>
      <p:sp>
        <p:nvSpPr>
          <p:cNvPr id="6" name="Text 4"/>
          <p:cNvSpPr/>
          <p:nvPr/>
        </p:nvSpPr>
        <p:spPr>
          <a:xfrm>
            <a:off x="731520" y="1554480"/>
            <a:ext cx="4114800" cy="365760"/>
          </a:xfrm>
          <a:prstGeom prst="rect">
            <a:avLst/>
          </a:prstGeom>
          <a:noFill/>
          <a:ln/>
        </p:spPr>
        <p:txBody>
          <a:bodyPr wrap="square" lIns="0" tIns="0" rIns="0" bIns="0" rtlCol="0" anchor="ctr"/>
          <a:lstStyle/>
          <a:p>
            <a:pPr marL="0" indent="0">
              <a:buNone/>
            </a:pPr>
            <a:r>
              <a:rPr lang="en-US" sz="1200" b="1" kern="0" spc="400" dirty="0">
                <a:solidFill>
                  <a:srgbClr val="D4A017"/>
                </a:solidFill>
                <a:latin typeface="Calibri" pitchFamily="34" charset="0"/>
                <a:ea typeface="Calibri" pitchFamily="34" charset="-122"/>
                <a:cs typeface="Calibri" pitchFamily="34" charset="-120"/>
              </a:rPr>
              <a:t>ROLE: WINNER</a:t>
            </a:r>
            <a:endParaRPr lang="en-US" sz="1200" dirty="0"/>
          </a:p>
        </p:txBody>
      </p:sp>
      <p:sp>
        <p:nvSpPr>
          <p:cNvPr id="7" name="Text 5"/>
          <p:cNvSpPr/>
          <p:nvPr/>
        </p:nvSpPr>
        <p:spPr>
          <a:xfrm>
            <a:off x="731520" y="1920240"/>
            <a:ext cx="4114800" cy="822960"/>
          </a:xfrm>
          <a:prstGeom prst="rect">
            <a:avLst/>
          </a:prstGeom>
          <a:noFill/>
          <a:ln/>
        </p:spPr>
        <p:txBody>
          <a:bodyPr wrap="square" lIns="0" tIns="0" rIns="0" bIns="0" rtlCol="0" anchor="ctr"/>
          <a:lstStyle/>
          <a:p>
            <a:pPr marL="0" indent="0">
              <a:buNone/>
            </a:pPr>
            <a:r>
              <a:rPr lang="en-US" sz="1400" i="1" dirty="0">
                <a:solidFill>
                  <a:srgbClr val="1B1B1B"/>
                </a:solidFill>
                <a:latin typeface="Calibri" pitchFamily="34" charset="0"/>
                <a:ea typeface="Calibri" pitchFamily="34" charset="-122"/>
                <a:cs typeface="Calibri" pitchFamily="34" charset="-120"/>
              </a:rPr>
              <a:t>Gradient-boosted trees — the industry standard for tabular data and our project's best performer.</a:t>
            </a:r>
            <a:endParaRPr lang="en-US" sz="1400" dirty="0"/>
          </a:p>
        </p:txBody>
      </p:sp>
      <p:sp>
        <p:nvSpPr>
          <p:cNvPr id="8" name="Text 6"/>
          <p:cNvSpPr/>
          <p:nvPr/>
        </p:nvSpPr>
        <p:spPr>
          <a:xfrm>
            <a:off x="731520" y="283464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BEST HYPERPARAMETERS</a:t>
            </a:r>
            <a:endParaRPr lang="en-US" sz="1100" dirty="0"/>
          </a:p>
        </p:txBody>
      </p:sp>
      <p:sp>
        <p:nvSpPr>
          <p:cNvPr id="9" name="Text 7"/>
          <p:cNvSpPr/>
          <p:nvPr/>
        </p:nvSpPr>
        <p:spPr>
          <a:xfrm>
            <a:off x="731520" y="3154680"/>
            <a:ext cx="4114800" cy="141732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learning_rate = 0.1</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num_leaves = 63</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max_depth = 6</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n_estimators = 200, balanced weights</a:t>
            </a:r>
            <a:endParaRPr lang="en-US" sz="1200" dirty="0"/>
          </a:p>
        </p:txBody>
      </p:sp>
      <p:sp>
        <p:nvSpPr>
          <p:cNvPr id="10" name="Text 8"/>
          <p:cNvSpPr/>
          <p:nvPr/>
        </p:nvSpPr>
        <p:spPr>
          <a:xfrm>
            <a:off x="731520" y="470916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STANDOUT METRIC</a:t>
            </a:r>
            <a:endParaRPr lang="en-US" sz="1100" dirty="0"/>
          </a:p>
        </p:txBody>
      </p:sp>
      <p:sp>
        <p:nvSpPr>
          <p:cNvPr id="11" name="Text 9"/>
          <p:cNvSpPr/>
          <p:nvPr/>
        </p:nvSpPr>
        <p:spPr>
          <a:xfrm>
            <a:off x="731520" y="5029200"/>
            <a:ext cx="4114800" cy="45720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Sev 1 recall = 0.95</a:t>
            </a:r>
            <a:r>
              <a:rPr lang="en-US" sz="1300" dirty="0">
                <a:solidFill>
                  <a:srgbClr val="1B1B1B"/>
                </a:solidFill>
                <a:latin typeface="Calibri" pitchFamily="34" charset="0"/>
                <a:ea typeface="Calibri" pitchFamily="34" charset="-122"/>
                <a:cs typeface="Calibri" pitchFamily="34" charset="-120"/>
              </a:rPr>
              <a:t>  →  finds 95% of rare minor accidents</a:t>
            </a:r>
            <a:endParaRPr lang="en-US" sz="1300" dirty="0"/>
          </a:p>
        </p:txBody>
      </p:sp>
      <p:sp>
        <p:nvSpPr>
          <p:cNvPr id="12" name="Text 10"/>
          <p:cNvSpPr/>
          <p:nvPr/>
        </p:nvSpPr>
        <p:spPr>
          <a:xfrm>
            <a:off x="731520" y="5532120"/>
            <a:ext cx="4114800" cy="457200"/>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Sev 4 recall = 0.80</a:t>
            </a:r>
            <a:r>
              <a:rPr lang="en-US" sz="1300" dirty="0">
                <a:solidFill>
                  <a:srgbClr val="1B1B1B"/>
                </a:solidFill>
                <a:latin typeface="Calibri" pitchFamily="34" charset="0"/>
                <a:ea typeface="Calibri" pitchFamily="34" charset="-122"/>
                <a:cs typeface="Calibri" pitchFamily="34" charset="-120"/>
              </a:rPr>
              <a:t>  →  finds 80% of severe accidents</a:t>
            </a:r>
            <a:endParaRPr lang="en-US" sz="1300" dirty="0"/>
          </a:p>
        </p:txBody>
      </p:sp>
      <p:sp>
        <p:nvSpPr>
          <p:cNvPr id="13" name="Shape 11"/>
          <p:cNvSpPr/>
          <p:nvPr/>
        </p:nvSpPr>
        <p:spPr>
          <a:xfrm>
            <a:off x="5303520" y="1371600"/>
            <a:ext cx="6400800" cy="4937760"/>
          </a:xfrm>
          <a:prstGeom prst="rect">
            <a:avLst/>
          </a:prstGeom>
          <a:solidFill>
            <a:srgbClr val="0B2545"/>
          </a:solidFill>
          <a:ln w="38100">
            <a:solidFill>
              <a:srgbClr val="D4A017"/>
            </a:solidFill>
            <a:prstDash val="solid"/>
          </a:ln>
        </p:spPr>
        <p:txBody>
          <a:bodyPr/>
          <a:lstStyle/>
          <a:p>
            <a:endParaRPr lang="es-PY"/>
          </a:p>
        </p:txBody>
      </p:sp>
      <p:sp>
        <p:nvSpPr>
          <p:cNvPr id="14" name="Text 12"/>
          <p:cNvSpPr/>
          <p:nvPr/>
        </p:nvSpPr>
        <p:spPr>
          <a:xfrm>
            <a:off x="5577840" y="1645920"/>
            <a:ext cx="5852160" cy="365760"/>
          </a:xfrm>
          <a:prstGeom prst="rect">
            <a:avLst/>
          </a:prstGeom>
          <a:noFill/>
          <a:ln/>
        </p:spPr>
        <p:txBody>
          <a:bodyPr wrap="square" lIns="0" tIns="0" rIns="0" bIns="0" rtlCol="0" anchor="ctr"/>
          <a:lstStyle/>
          <a:p>
            <a:pPr marL="0" indent="0">
              <a:buNone/>
            </a:pPr>
            <a:r>
              <a:rPr lang="en-US" sz="1200" b="1" kern="0" spc="400" dirty="0">
                <a:solidFill>
                  <a:srgbClr val="D4A017"/>
                </a:solidFill>
                <a:latin typeface="Calibri" pitchFamily="34" charset="0"/>
                <a:ea typeface="Calibri" pitchFamily="34" charset="-122"/>
                <a:cs typeface="Calibri" pitchFamily="34" charset="-120"/>
              </a:rPr>
              <a:t>WEIGHTED F1  •  BEST OVERALL</a:t>
            </a:r>
            <a:endParaRPr lang="en-US" sz="1200" dirty="0"/>
          </a:p>
        </p:txBody>
      </p:sp>
      <p:sp>
        <p:nvSpPr>
          <p:cNvPr id="15" name="Text 13"/>
          <p:cNvSpPr/>
          <p:nvPr/>
        </p:nvSpPr>
        <p:spPr>
          <a:xfrm>
            <a:off x="5577840" y="2011680"/>
            <a:ext cx="5852160" cy="1005840"/>
          </a:xfrm>
          <a:prstGeom prst="rect">
            <a:avLst/>
          </a:prstGeom>
          <a:noFill/>
          <a:ln/>
        </p:spPr>
        <p:txBody>
          <a:bodyPr wrap="square" lIns="0" tIns="0" rIns="0" bIns="0" rtlCol="0" anchor="ctr"/>
          <a:lstStyle/>
          <a:p>
            <a:pPr marL="0" indent="0">
              <a:buNone/>
            </a:pPr>
            <a:r>
              <a:rPr lang="en-US" sz="7200" b="1" dirty="0">
                <a:solidFill>
                  <a:srgbClr val="FFFFFF"/>
                </a:solidFill>
                <a:latin typeface="Georgia" pitchFamily="34" charset="0"/>
                <a:ea typeface="Georgia" pitchFamily="34" charset="-122"/>
                <a:cs typeface="Georgia" pitchFamily="34" charset="-120"/>
              </a:rPr>
              <a:t>0.7595</a:t>
            </a:r>
            <a:endParaRPr lang="en-US" sz="7200" dirty="0"/>
          </a:p>
        </p:txBody>
      </p:sp>
      <p:sp>
        <p:nvSpPr>
          <p:cNvPr id="16" name="Text 14"/>
          <p:cNvSpPr/>
          <p:nvPr/>
        </p:nvSpPr>
        <p:spPr>
          <a:xfrm>
            <a:off x="5577840" y="3017520"/>
            <a:ext cx="5852160" cy="320040"/>
          </a:xfrm>
          <a:prstGeom prst="rect">
            <a:avLst/>
          </a:prstGeom>
          <a:noFill/>
          <a:ln/>
        </p:spPr>
        <p:txBody>
          <a:bodyPr wrap="square" lIns="0" tIns="0" rIns="0" bIns="0" rtlCol="0" anchor="ctr"/>
          <a:lstStyle/>
          <a:p>
            <a:pPr marL="0" indent="0">
              <a:buNone/>
            </a:pPr>
            <a:r>
              <a:rPr lang="en-US" sz="1100" i="1" dirty="0">
                <a:solidFill>
                  <a:srgbClr val="CADCFC"/>
                </a:solidFill>
                <a:latin typeface="Calibri" pitchFamily="34" charset="0"/>
                <a:ea typeface="Calibri" pitchFamily="34" charset="-122"/>
                <a:cs typeface="Calibri" pitchFamily="34" charset="-120"/>
              </a:rPr>
              <a:t>Per-class F1</a:t>
            </a:r>
            <a:endParaRPr lang="en-US" sz="1100" dirty="0"/>
          </a:p>
        </p:txBody>
      </p:sp>
      <p:sp>
        <p:nvSpPr>
          <p:cNvPr id="17" name="Text 15"/>
          <p:cNvSpPr/>
          <p:nvPr/>
        </p:nvSpPr>
        <p:spPr>
          <a:xfrm>
            <a:off x="5577840" y="338328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1</a:t>
            </a:r>
            <a:endParaRPr lang="en-US" sz="1200" dirty="0"/>
          </a:p>
        </p:txBody>
      </p:sp>
      <p:sp>
        <p:nvSpPr>
          <p:cNvPr id="18" name="Shape 16"/>
          <p:cNvSpPr/>
          <p:nvPr/>
        </p:nvSpPr>
        <p:spPr>
          <a:xfrm>
            <a:off x="6492240" y="3456432"/>
            <a:ext cx="4114800" cy="228600"/>
          </a:xfrm>
          <a:prstGeom prst="rect">
            <a:avLst/>
          </a:prstGeom>
          <a:solidFill>
            <a:srgbClr val="1B3A66"/>
          </a:solidFill>
          <a:ln/>
        </p:spPr>
        <p:txBody>
          <a:bodyPr/>
          <a:lstStyle/>
          <a:p>
            <a:endParaRPr lang="es-PY"/>
          </a:p>
        </p:txBody>
      </p:sp>
      <p:sp>
        <p:nvSpPr>
          <p:cNvPr id="19" name="Shape 17"/>
          <p:cNvSpPr/>
          <p:nvPr/>
        </p:nvSpPr>
        <p:spPr>
          <a:xfrm>
            <a:off x="6492240" y="3456432"/>
            <a:ext cx="2057400" cy="228600"/>
          </a:xfrm>
          <a:prstGeom prst="rect">
            <a:avLst/>
          </a:prstGeom>
          <a:solidFill>
            <a:srgbClr val="D4A017"/>
          </a:solidFill>
          <a:ln/>
        </p:spPr>
        <p:txBody>
          <a:bodyPr/>
          <a:lstStyle/>
          <a:p>
            <a:endParaRPr lang="es-PY"/>
          </a:p>
        </p:txBody>
      </p:sp>
      <p:sp>
        <p:nvSpPr>
          <p:cNvPr id="20" name="Text 18"/>
          <p:cNvSpPr/>
          <p:nvPr/>
        </p:nvSpPr>
        <p:spPr>
          <a:xfrm>
            <a:off x="10698480" y="338328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0.50</a:t>
            </a:r>
            <a:endParaRPr lang="en-US" sz="1200" dirty="0"/>
          </a:p>
        </p:txBody>
      </p:sp>
      <p:sp>
        <p:nvSpPr>
          <p:cNvPr id="21" name="Text 19"/>
          <p:cNvSpPr/>
          <p:nvPr/>
        </p:nvSpPr>
        <p:spPr>
          <a:xfrm>
            <a:off x="5577840" y="388620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2</a:t>
            </a:r>
            <a:endParaRPr lang="en-US" sz="1200" dirty="0"/>
          </a:p>
        </p:txBody>
      </p:sp>
      <p:sp>
        <p:nvSpPr>
          <p:cNvPr id="22" name="Shape 20"/>
          <p:cNvSpPr/>
          <p:nvPr/>
        </p:nvSpPr>
        <p:spPr>
          <a:xfrm>
            <a:off x="6492240" y="3959352"/>
            <a:ext cx="4114800" cy="228600"/>
          </a:xfrm>
          <a:prstGeom prst="rect">
            <a:avLst/>
          </a:prstGeom>
          <a:solidFill>
            <a:srgbClr val="1B3A66"/>
          </a:solidFill>
          <a:ln/>
        </p:spPr>
        <p:txBody>
          <a:bodyPr/>
          <a:lstStyle/>
          <a:p>
            <a:endParaRPr lang="es-PY"/>
          </a:p>
        </p:txBody>
      </p:sp>
      <p:sp>
        <p:nvSpPr>
          <p:cNvPr id="23" name="Shape 21"/>
          <p:cNvSpPr/>
          <p:nvPr/>
        </p:nvSpPr>
        <p:spPr>
          <a:xfrm>
            <a:off x="6492240" y="3959352"/>
            <a:ext cx="3332988" cy="228600"/>
          </a:xfrm>
          <a:prstGeom prst="rect">
            <a:avLst/>
          </a:prstGeom>
          <a:solidFill>
            <a:srgbClr val="D4A017"/>
          </a:solidFill>
          <a:ln/>
        </p:spPr>
        <p:txBody>
          <a:bodyPr/>
          <a:lstStyle/>
          <a:p>
            <a:endParaRPr lang="es-PY"/>
          </a:p>
        </p:txBody>
      </p:sp>
      <p:sp>
        <p:nvSpPr>
          <p:cNvPr id="24" name="Text 22"/>
          <p:cNvSpPr/>
          <p:nvPr/>
        </p:nvSpPr>
        <p:spPr>
          <a:xfrm>
            <a:off x="10698480" y="388620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0.81</a:t>
            </a:r>
            <a:endParaRPr lang="en-US" sz="1200" dirty="0"/>
          </a:p>
        </p:txBody>
      </p:sp>
      <p:sp>
        <p:nvSpPr>
          <p:cNvPr id="25" name="Text 23"/>
          <p:cNvSpPr/>
          <p:nvPr/>
        </p:nvSpPr>
        <p:spPr>
          <a:xfrm>
            <a:off x="5577840" y="438912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3</a:t>
            </a:r>
            <a:endParaRPr lang="en-US" sz="1200" dirty="0"/>
          </a:p>
        </p:txBody>
      </p:sp>
      <p:sp>
        <p:nvSpPr>
          <p:cNvPr id="26" name="Shape 24"/>
          <p:cNvSpPr/>
          <p:nvPr/>
        </p:nvSpPr>
        <p:spPr>
          <a:xfrm>
            <a:off x="6492240" y="4462272"/>
            <a:ext cx="4114800" cy="228600"/>
          </a:xfrm>
          <a:prstGeom prst="rect">
            <a:avLst/>
          </a:prstGeom>
          <a:solidFill>
            <a:srgbClr val="1B3A66"/>
          </a:solidFill>
          <a:ln/>
        </p:spPr>
        <p:txBody>
          <a:bodyPr/>
          <a:lstStyle/>
          <a:p>
            <a:endParaRPr lang="es-PY"/>
          </a:p>
        </p:txBody>
      </p:sp>
      <p:sp>
        <p:nvSpPr>
          <p:cNvPr id="27" name="Shape 25"/>
          <p:cNvSpPr/>
          <p:nvPr/>
        </p:nvSpPr>
        <p:spPr>
          <a:xfrm>
            <a:off x="6492240" y="4462272"/>
            <a:ext cx="2633472" cy="228600"/>
          </a:xfrm>
          <a:prstGeom prst="rect">
            <a:avLst/>
          </a:prstGeom>
          <a:solidFill>
            <a:srgbClr val="D4A017"/>
          </a:solidFill>
          <a:ln/>
        </p:spPr>
        <p:txBody>
          <a:bodyPr/>
          <a:lstStyle/>
          <a:p>
            <a:endParaRPr lang="es-PY"/>
          </a:p>
        </p:txBody>
      </p:sp>
      <p:sp>
        <p:nvSpPr>
          <p:cNvPr id="28" name="Text 26"/>
          <p:cNvSpPr/>
          <p:nvPr/>
        </p:nvSpPr>
        <p:spPr>
          <a:xfrm>
            <a:off x="10698480" y="438912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0.64</a:t>
            </a:r>
            <a:endParaRPr lang="en-US" sz="1200" dirty="0"/>
          </a:p>
        </p:txBody>
      </p:sp>
      <p:sp>
        <p:nvSpPr>
          <p:cNvPr id="29" name="Text 27"/>
          <p:cNvSpPr/>
          <p:nvPr/>
        </p:nvSpPr>
        <p:spPr>
          <a:xfrm>
            <a:off x="5577840" y="489204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4</a:t>
            </a:r>
            <a:endParaRPr lang="en-US" sz="1200" dirty="0"/>
          </a:p>
        </p:txBody>
      </p:sp>
      <p:sp>
        <p:nvSpPr>
          <p:cNvPr id="30" name="Shape 28"/>
          <p:cNvSpPr/>
          <p:nvPr/>
        </p:nvSpPr>
        <p:spPr>
          <a:xfrm>
            <a:off x="6492240" y="4965192"/>
            <a:ext cx="4114800" cy="228600"/>
          </a:xfrm>
          <a:prstGeom prst="rect">
            <a:avLst/>
          </a:prstGeom>
          <a:solidFill>
            <a:srgbClr val="1B3A66"/>
          </a:solidFill>
          <a:ln/>
        </p:spPr>
        <p:txBody>
          <a:bodyPr/>
          <a:lstStyle/>
          <a:p>
            <a:endParaRPr lang="es-PY"/>
          </a:p>
        </p:txBody>
      </p:sp>
      <p:sp>
        <p:nvSpPr>
          <p:cNvPr id="31" name="Shape 29"/>
          <p:cNvSpPr/>
          <p:nvPr/>
        </p:nvSpPr>
        <p:spPr>
          <a:xfrm>
            <a:off x="6492240" y="4965192"/>
            <a:ext cx="1193292" cy="228600"/>
          </a:xfrm>
          <a:prstGeom prst="rect">
            <a:avLst/>
          </a:prstGeom>
          <a:solidFill>
            <a:srgbClr val="D4A017"/>
          </a:solidFill>
          <a:ln/>
        </p:spPr>
        <p:txBody>
          <a:bodyPr/>
          <a:lstStyle/>
          <a:p>
            <a:endParaRPr lang="es-PY"/>
          </a:p>
        </p:txBody>
      </p:sp>
      <p:sp>
        <p:nvSpPr>
          <p:cNvPr id="32" name="Text 30"/>
          <p:cNvSpPr/>
          <p:nvPr/>
        </p:nvSpPr>
        <p:spPr>
          <a:xfrm>
            <a:off x="10698480" y="489204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0.29</a:t>
            </a:r>
            <a:endParaRPr lang="en-US" sz="1200" dirty="0"/>
          </a:p>
        </p:txBody>
      </p:sp>
      <p:sp>
        <p:nvSpPr>
          <p:cNvPr id="33" name="Text 31"/>
          <p:cNvSpPr/>
          <p:nvPr/>
        </p:nvSpPr>
        <p:spPr>
          <a:xfrm>
            <a:off x="5577840" y="5760720"/>
            <a:ext cx="585216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Train time: 716s  •  Sample: 500,000 rows (5× more than RF)  •  Grid: 8 fits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07 / MODELS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Model 4 — Multi-Layer Perceptron</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4572000" cy="4937760"/>
          </a:xfrm>
          <a:prstGeom prst="rect">
            <a:avLst/>
          </a:prstGeom>
          <a:solidFill>
            <a:srgbClr val="FFFFFF"/>
          </a:solidFill>
          <a:ln w="12700">
            <a:solidFill>
              <a:srgbClr val="E5E7EB"/>
            </a:solidFill>
            <a:prstDash val="solid"/>
          </a:ln>
        </p:spPr>
        <p:txBody>
          <a:bodyPr/>
          <a:lstStyle/>
          <a:p>
            <a:endParaRPr lang="es-PY"/>
          </a:p>
        </p:txBody>
      </p:sp>
      <p:sp>
        <p:nvSpPr>
          <p:cNvPr id="6" name="Text 4"/>
          <p:cNvSpPr/>
          <p:nvPr/>
        </p:nvSpPr>
        <p:spPr>
          <a:xfrm>
            <a:off x="731520" y="1554480"/>
            <a:ext cx="411480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ROLE: NEURAL NETWORK</a:t>
            </a:r>
            <a:endParaRPr lang="en-US" sz="1200" dirty="0"/>
          </a:p>
        </p:txBody>
      </p:sp>
      <p:sp>
        <p:nvSpPr>
          <p:cNvPr id="7" name="Text 5"/>
          <p:cNvSpPr/>
          <p:nvPr/>
        </p:nvSpPr>
        <p:spPr>
          <a:xfrm>
            <a:off x="731520" y="1920240"/>
            <a:ext cx="4114800" cy="822960"/>
          </a:xfrm>
          <a:prstGeom prst="rect">
            <a:avLst/>
          </a:prstGeom>
          <a:noFill/>
          <a:ln/>
        </p:spPr>
        <p:txBody>
          <a:bodyPr wrap="square" lIns="0" tIns="0" rIns="0" bIns="0" rtlCol="0" anchor="ctr"/>
          <a:lstStyle/>
          <a:p>
            <a:pPr marL="0" indent="0">
              <a:buNone/>
            </a:pPr>
            <a:r>
              <a:rPr lang="en-US" sz="1400" i="1" dirty="0">
                <a:solidFill>
                  <a:srgbClr val="1B1B1B"/>
                </a:solidFill>
                <a:latin typeface="Calibri" pitchFamily="34" charset="0"/>
                <a:ea typeface="Calibri" pitchFamily="34" charset="-122"/>
                <a:cs typeface="Calibri" pitchFamily="34" charset="-120"/>
              </a:rPr>
              <a:t>Feedforward neural net with 2 hidden layers — tests whether deep learning beats trees on tabular data.</a:t>
            </a:r>
            <a:endParaRPr lang="en-US" sz="1400" dirty="0"/>
          </a:p>
        </p:txBody>
      </p:sp>
      <p:sp>
        <p:nvSpPr>
          <p:cNvPr id="8" name="Text 6"/>
          <p:cNvSpPr/>
          <p:nvPr/>
        </p:nvSpPr>
        <p:spPr>
          <a:xfrm>
            <a:off x="731520" y="283464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ARCHITECTURE</a:t>
            </a:r>
            <a:endParaRPr lang="en-US" sz="1100" dirty="0"/>
          </a:p>
        </p:txBody>
      </p:sp>
      <p:sp>
        <p:nvSpPr>
          <p:cNvPr id="9" name="Text 7"/>
          <p:cNvSpPr/>
          <p:nvPr/>
        </p:nvSpPr>
        <p:spPr>
          <a:xfrm>
            <a:off x="731520" y="3154680"/>
            <a:ext cx="4114800" cy="141732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Hidden layers: (128, 64) ReLU</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Learning rate = 0.001, max_iter = 30</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Early stopping (validation_fraction=0.1)</a:t>
            </a:r>
            <a:endParaRPr lang="en-US" sz="1200" dirty="0"/>
          </a:p>
          <a:p>
            <a:pPr marL="342900" indent="-342900">
              <a:spcAft>
                <a:spcPts val="400"/>
              </a:spcAft>
              <a:buSzPct val="100000"/>
              <a:buChar char="•"/>
            </a:pPr>
            <a:r>
              <a:rPr lang="en-US" sz="1200" dirty="0">
                <a:solidFill>
                  <a:srgbClr val="1B1B1B"/>
                </a:solidFill>
                <a:latin typeface="Calibri" pitchFamily="34" charset="0"/>
                <a:ea typeface="Calibri" pitchFamily="34" charset="-122"/>
                <a:cs typeface="Calibri" pitchFamily="34" charset="-120"/>
              </a:rPr>
              <a:t>Manual upsampling (no class_weight support)</a:t>
            </a:r>
            <a:endParaRPr lang="en-US" sz="1200" dirty="0"/>
          </a:p>
        </p:txBody>
      </p:sp>
      <p:sp>
        <p:nvSpPr>
          <p:cNvPr id="10" name="Text 8"/>
          <p:cNvSpPr/>
          <p:nvPr/>
        </p:nvSpPr>
        <p:spPr>
          <a:xfrm>
            <a:off x="731520" y="4709160"/>
            <a:ext cx="4114800" cy="32004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KEY FINDING</a:t>
            </a:r>
            <a:endParaRPr lang="en-US" sz="1100" dirty="0"/>
          </a:p>
        </p:txBody>
      </p:sp>
      <p:sp>
        <p:nvSpPr>
          <p:cNvPr id="11" name="Text 9"/>
          <p:cNvSpPr/>
          <p:nvPr/>
        </p:nvSpPr>
        <p:spPr>
          <a:xfrm>
            <a:off x="731520" y="5029200"/>
            <a:ext cx="4114800" cy="1188720"/>
          </a:xfrm>
          <a:prstGeom prst="rect">
            <a:avLst/>
          </a:prstGeom>
          <a:noFill/>
          <a:ln/>
        </p:spPr>
        <p:txBody>
          <a:bodyPr wrap="square" lIns="0" tIns="0" rIns="0" bIns="0" rtlCol="0" anchor="ctr"/>
          <a:lstStyle/>
          <a:p>
            <a:pPr marL="0" indent="0">
              <a:buNone/>
            </a:pPr>
            <a:r>
              <a:rPr lang="en-US" sz="1200" dirty="0">
                <a:solidFill>
                  <a:srgbClr val="1B1B1B"/>
                </a:solidFill>
                <a:latin typeface="Calibri" pitchFamily="34" charset="0"/>
                <a:ea typeface="Calibri" pitchFamily="34" charset="-122"/>
                <a:cs typeface="Calibri" pitchFamily="34" charset="-120"/>
              </a:rPr>
              <a:t>MLP loses to LightGBM on every minority-class metric. Confirms the well-established finding that gradient boosting outperforms neural nets on structured tabular data.</a:t>
            </a:r>
            <a:endParaRPr lang="en-US" sz="1200" dirty="0"/>
          </a:p>
        </p:txBody>
      </p:sp>
      <p:sp>
        <p:nvSpPr>
          <p:cNvPr id="12" name="Shape 10"/>
          <p:cNvSpPr/>
          <p:nvPr/>
        </p:nvSpPr>
        <p:spPr>
          <a:xfrm>
            <a:off x="5303520" y="1371600"/>
            <a:ext cx="6400800" cy="4937760"/>
          </a:xfrm>
          <a:prstGeom prst="rect">
            <a:avLst/>
          </a:prstGeom>
          <a:solidFill>
            <a:srgbClr val="0B2545"/>
          </a:solidFill>
          <a:ln/>
        </p:spPr>
        <p:txBody>
          <a:bodyPr/>
          <a:lstStyle/>
          <a:p>
            <a:endParaRPr lang="es-PY"/>
          </a:p>
        </p:txBody>
      </p:sp>
      <p:sp>
        <p:nvSpPr>
          <p:cNvPr id="13" name="Text 11"/>
          <p:cNvSpPr/>
          <p:nvPr/>
        </p:nvSpPr>
        <p:spPr>
          <a:xfrm>
            <a:off x="5577840" y="1645920"/>
            <a:ext cx="5852160" cy="365760"/>
          </a:xfrm>
          <a:prstGeom prst="rect">
            <a:avLst/>
          </a:prstGeom>
          <a:noFill/>
          <a:ln/>
        </p:spPr>
        <p:txBody>
          <a:bodyPr wrap="square" lIns="0" tIns="0" rIns="0" bIns="0" rtlCol="0" anchor="ctr"/>
          <a:lstStyle/>
          <a:p>
            <a:pPr marL="0" indent="0">
              <a:buNone/>
            </a:pPr>
            <a:r>
              <a:rPr lang="en-US" sz="1200" b="1" kern="0" spc="400" dirty="0">
                <a:solidFill>
                  <a:srgbClr val="EE6C4D"/>
                </a:solidFill>
                <a:latin typeface="Calibri" pitchFamily="34" charset="0"/>
                <a:ea typeface="Calibri" pitchFamily="34" charset="-122"/>
                <a:cs typeface="Calibri" pitchFamily="34" charset="-120"/>
              </a:rPr>
              <a:t>WEIGHTED F1</a:t>
            </a:r>
            <a:endParaRPr lang="en-US" sz="1200" dirty="0"/>
          </a:p>
        </p:txBody>
      </p:sp>
      <p:sp>
        <p:nvSpPr>
          <p:cNvPr id="14" name="Text 12"/>
          <p:cNvSpPr/>
          <p:nvPr/>
        </p:nvSpPr>
        <p:spPr>
          <a:xfrm>
            <a:off x="5577840" y="2011680"/>
            <a:ext cx="5852160" cy="1005840"/>
          </a:xfrm>
          <a:prstGeom prst="rect">
            <a:avLst/>
          </a:prstGeom>
          <a:noFill/>
          <a:ln/>
        </p:spPr>
        <p:txBody>
          <a:bodyPr wrap="square" lIns="0" tIns="0" rIns="0" bIns="0" rtlCol="0" anchor="ctr"/>
          <a:lstStyle/>
          <a:p>
            <a:pPr marL="0" indent="0">
              <a:buNone/>
            </a:pPr>
            <a:r>
              <a:rPr lang="en-US" sz="7200" b="1" dirty="0">
                <a:solidFill>
                  <a:srgbClr val="FFFFFF"/>
                </a:solidFill>
                <a:latin typeface="Georgia" pitchFamily="34" charset="0"/>
                <a:ea typeface="Georgia" pitchFamily="34" charset="-122"/>
                <a:cs typeface="Georgia" pitchFamily="34" charset="-120"/>
              </a:rPr>
              <a:t>0.7429</a:t>
            </a:r>
            <a:endParaRPr lang="en-US" sz="7200" dirty="0"/>
          </a:p>
        </p:txBody>
      </p:sp>
      <p:sp>
        <p:nvSpPr>
          <p:cNvPr id="15" name="Text 13"/>
          <p:cNvSpPr/>
          <p:nvPr/>
        </p:nvSpPr>
        <p:spPr>
          <a:xfrm>
            <a:off x="5577840" y="3017520"/>
            <a:ext cx="5852160" cy="320040"/>
          </a:xfrm>
          <a:prstGeom prst="rect">
            <a:avLst/>
          </a:prstGeom>
          <a:noFill/>
          <a:ln/>
        </p:spPr>
        <p:txBody>
          <a:bodyPr wrap="square" lIns="0" tIns="0" rIns="0" bIns="0" rtlCol="0" anchor="ctr"/>
          <a:lstStyle/>
          <a:p>
            <a:pPr marL="0" indent="0">
              <a:buNone/>
            </a:pPr>
            <a:r>
              <a:rPr lang="en-US" sz="1100" i="1" dirty="0">
                <a:solidFill>
                  <a:srgbClr val="CADCFC"/>
                </a:solidFill>
                <a:latin typeface="Calibri" pitchFamily="34" charset="0"/>
                <a:ea typeface="Calibri" pitchFamily="34" charset="-122"/>
                <a:cs typeface="Calibri" pitchFamily="34" charset="-120"/>
              </a:rPr>
              <a:t>Per-class F1</a:t>
            </a:r>
            <a:endParaRPr lang="en-US" sz="1100" dirty="0"/>
          </a:p>
        </p:txBody>
      </p:sp>
      <p:sp>
        <p:nvSpPr>
          <p:cNvPr id="16" name="Text 14"/>
          <p:cNvSpPr/>
          <p:nvPr/>
        </p:nvSpPr>
        <p:spPr>
          <a:xfrm>
            <a:off x="5577840" y="338328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1</a:t>
            </a:r>
            <a:endParaRPr lang="en-US" sz="1200" dirty="0"/>
          </a:p>
        </p:txBody>
      </p:sp>
      <p:sp>
        <p:nvSpPr>
          <p:cNvPr id="17" name="Shape 15"/>
          <p:cNvSpPr/>
          <p:nvPr/>
        </p:nvSpPr>
        <p:spPr>
          <a:xfrm>
            <a:off x="6492240" y="3456432"/>
            <a:ext cx="4114800" cy="228600"/>
          </a:xfrm>
          <a:prstGeom prst="rect">
            <a:avLst/>
          </a:prstGeom>
          <a:solidFill>
            <a:srgbClr val="1B3A66"/>
          </a:solidFill>
          <a:ln/>
        </p:spPr>
        <p:txBody>
          <a:bodyPr/>
          <a:lstStyle/>
          <a:p>
            <a:endParaRPr lang="es-PY"/>
          </a:p>
        </p:txBody>
      </p:sp>
      <p:sp>
        <p:nvSpPr>
          <p:cNvPr id="18" name="Shape 16"/>
          <p:cNvSpPr/>
          <p:nvPr/>
        </p:nvSpPr>
        <p:spPr>
          <a:xfrm>
            <a:off x="6492240" y="3456432"/>
            <a:ext cx="1769364" cy="228600"/>
          </a:xfrm>
          <a:prstGeom prst="rect">
            <a:avLst/>
          </a:prstGeom>
          <a:solidFill>
            <a:srgbClr val="EE6C4D"/>
          </a:solidFill>
          <a:ln/>
        </p:spPr>
        <p:txBody>
          <a:bodyPr/>
          <a:lstStyle/>
          <a:p>
            <a:endParaRPr lang="es-PY"/>
          </a:p>
        </p:txBody>
      </p:sp>
      <p:sp>
        <p:nvSpPr>
          <p:cNvPr id="19" name="Text 17"/>
          <p:cNvSpPr/>
          <p:nvPr/>
        </p:nvSpPr>
        <p:spPr>
          <a:xfrm>
            <a:off x="10698480" y="338328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0.43</a:t>
            </a:r>
            <a:endParaRPr lang="en-US" sz="1200" dirty="0"/>
          </a:p>
        </p:txBody>
      </p:sp>
      <p:sp>
        <p:nvSpPr>
          <p:cNvPr id="20" name="Text 18"/>
          <p:cNvSpPr/>
          <p:nvPr/>
        </p:nvSpPr>
        <p:spPr>
          <a:xfrm>
            <a:off x="5577840" y="388620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2</a:t>
            </a:r>
            <a:endParaRPr lang="en-US" sz="1200" dirty="0"/>
          </a:p>
        </p:txBody>
      </p:sp>
      <p:sp>
        <p:nvSpPr>
          <p:cNvPr id="21" name="Shape 19"/>
          <p:cNvSpPr/>
          <p:nvPr/>
        </p:nvSpPr>
        <p:spPr>
          <a:xfrm>
            <a:off x="6492240" y="3959352"/>
            <a:ext cx="4114800" cy="228600"/>
          </a:xfrm>
          <a:prstGeom prst="rect">
            <a:avLst/>
          </a:prstGeom>
          <a:solidFill>
            <a:srgbClr val="1B3A66"/>
          </a:solidFill>
          <a:ln/>
        </p:spPr>
        <p:txBody>
          <a:bodyPr/>
          <a:lstStyle/>
          <a:p>
            <a:endParaRPr lang="es-PY"/>
          </a:p>
        </p:txBody>
      </p:sp>
      <p:sp>
        <p:nvSpPr>
          <p:cNvPr id="22" name="Shape 20"/>
          <p:cNvSpPr/>
          <p:nvPr/>
        </p:nvSpPr>
        <p:spPr>
          <a:xfrm>
            <a:off x="6492240" y="3959352"/>
            <a:ext cx="3332988" cy="228600"/>
          </a:xfrm>
          <a:prstGeom prst="rect">
            <a:avLst/>
          </a:prstGeom>
          <a:solidFill>
            <a:srgbClr val="EE6C4D"/>
          </a:solidFill>
          <a:ln/>
        </p:spPr>
        <p:txBody>
          <a:bodyPr/>
          <a:lstStyle/>
          <a:p>
            <a:endParaRPr lang="es-PY"/>
          </a:p>
        </p:txBody>
      </p:sp>
      <p:sp>
        <p:nvSpPr>
          <p:cNvPr id="23" name="Text 21"/>
          <p:cNvSpPr/>
          <p:nvPr/>
        </p:nvSpPr>
        <p:spPr>
          <a:xfrm>
            <a:off x="10698480" y="388620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0.81</a:t>
            </a:r>
            <a:endParaRPr lang="en-US" sz="1200" dirty="0"/>
          </a:p>
        </p:txBody>
      </p:sp>
      <p:sp>
        <p:nvSpPr>
          <p:cNvPr id="24" name="Text 22"/>
          <p:cNvSpPr/>
          <p:nvPr/>
        </p:nvSpPr>
        <p:spPr>
          <a:xfrm>
            <a:off x="5577840" y="438912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3</a:t>
            </a:r>
            <a:endParaRPr lang="en-US" sz="1200" dirty="0"/>
          </a:p>
        </p:txBody>
      </p:sp>
      <p:sp>
        <p:nvSpPr>
          <p:cNvPr id="25" name="Shape 23"/>
          <p:cNvSpPr/>
          <p:nvPr/>
        </p:nvSpPr>
        <p:spPr>
          <a:xfrm>
            <a:off x="6492240" y="4462272"/>
            <a:ext cx="4114800" cy="228600"/>
          </a:xfrm>
          <a:prstGeom prst="rect">
            <a:avLst/>
          </a:prstGeom>
          <a:solidFill>
            <a:srgbClr val="1B3A66"/>
          </a:solidFill>
          <a:ln/>
        </p:spPr>
        <p:txBody>
          <a:bodyPr/>
          <a:lstStyle/>
          <a:p>
            <a:endParaRPr lang="es-PY"/>
          </a:p>
        </p:txBody>
      </p:sp>
      <p:sp>
        <p:nvSpPr>
          <p:cNvPr id="26" name="Shape 24"/>
          <p:cNvSpPr/>
          <p:nvPr/>
        </p:nvSpPr>
        <p:spPr>
          <a:xfrm>
            <a:off x="6492240" y="4462272"/>
            <a:ext cx="2304288" cy="228600"/>
          </a:xfrm>
          <a:prstGeom prst="rect">
            <a:avLst/>
          </a:prstGeom>
          <a:solidFill>
            <a:srgbClr val="EE6C4D"/>
          </a:solidFill>
          <a:ln/>
        </p:spPr>
        <p:txBody>
          <a:bodyPr/>
          <a:lstStyle/>
          <a:p>
            <a:endParaRPr lang="es-PY"/>
          </a:p>
        </p:txBody>
      </p:sp>
      <p:sp>
        <p:nvSpPr>
          <p:cNvPr id="27" name="Text 25"/>
          <p:cNvSpPr/>
          <p:nvPr/>
        </p:nvSpPr>
        <p:spPr>
          <a:xfrm>
            <a:off x="10698480" y="438912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0.56</a:t>
            </a:r>
            <a:endParaRPr lang="en-US" sz="1200" dirty="0"/>
          </a:p>
        </p:txBody>
      </p:sp>
      <p:sp>
        <p:nvSpPr>
          <p:cNvPr id="28" name="Text 26"/>
          <p:cNvSpPr/>
          <p:nvPr/>
        </p:nvSpPr>
        <p:spPr>
          <a:xfrm>
            <a:off x="5577840" y="4892040"/>
            <a:ext cx="82296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Sev 4</a:t>
            </a:r>
            <a:endParaRPr lang="en-US" sz="1200" dirty="0"/>
          </a:p>
        </p:txBody>
      </p:sp>
      <p:sp>
        <p:nvSpPr>
          <p:cNvPr id="29" name="Shape 27"/>
          <p:cNvSpPr/>
          <p:nvPr/>
        </p:nvSpPr>
        <p:spPr>
          <a:xfrm>
            <a:off x="6492240" y="4965192"/>
            <a:ext cx="4114800" cy="228600"/>
          </a:xfrm>
          <a:prstGeom prst="rect">
            <a:avLst/>
          </a:prstGeom>
          <a:solidFill>
            <a:srgbClr val="1B3A66"/>
          </a:solidFill>
          <a:ln/>
        </p:spPr>
        <p:txBody>
          <a:bodyPr/>
          <a:lstStyle/>
          <a:p>
            <a:endParaRPr lang="es-PY"/>
          </a:p>
        </p:txBody>
      </p:sp>
      <p:sp>
        <p:nvSpPr>
          <p:cNvPr id="30" name="Shape 28"/>
          <p:cNvSpPr/>
          <p:nvPr/>
        </p:nvSpPr>
        <p:spPr>
          <a:xfrm>
            <a:off x="6492240" y="4965192"/>
            <a:ext cx="864108" cy="228600"/>
          </a:xfrm>
          <a:prstGeom prst="rect">
            <a:avLst/>
          </a:prstGeom>
          <a:solidFill>
            <a:srgbClr val="EE6C4D"/>
          </a:solidFill>
          <a:ln/>
        </p:spPr>
        <p:txBody>
          <a:bodyPr/>
          <a:lstStyle/>
          <a:p>
            <a:endParaRPr lang="es-PY"/>
          </a:p>
        </p:txBody>
      </p:sp>
      <p:sp>
        <p:nvSpPr>
          <p:cNvPr id="31" name="Text 29"/>
          <p:cNvSpPr/>
          <p:nvPr/>
        </p:nvSpPr>
        <p:spPr>
          <a:xfrm>
            <a:off x="10698480" y="4892040"/>
            <a:ext cx="731520" cy="3657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0.21</a:t>
            </a:r>
            <a:endParaRPr lang="en-US" sz="1200" dirty="0"/>
          </a:p>
        </p:txBody>
      </p:sp>
      <p:sp>
        <p:nvSpPr>
          <p:cNvPr id="32" name="Text 30"/>
          <p:cNvSpPr/>
          <p:nvPr/>
        </p:nvSpPr>
        <p:spPr>
          <a:xfrm>
            <a:off x="5577840" y="5760720"/>
            <a:ext cx="5852160" cy="274320"/>
          </a:xfrm>
          <a:prstGeom prst="rect">
            <a:avLst/>
          </a:prstGeom>
          <a:noFill/>
          <a:ln/>
        </p:spPr>
        <p:txBody>
          <a:bodyPr wrap="square" lIns="0" tIns="0" rIns="0" bIns="0" rtlCol="0" anchor="ctr"/>
          <a:lstStyle/>
          <a:p>
            <a:pPr marL="0" indent="0">
              <a:buNone/>
            </a:pPr>
            <a:r>
              <a:rPr lang="en-US" sz="1000" i="1" dirty="0">
                <a:solidFill>
                  <a:srgbClr val="CADCFC"/>
                </a:solidFill>
                <a:latin typeface="Calibri" pitchFamily="34" charset="0"/>
                <a:ea typeface="Calibri" pitchFamily="34" charset="-122"/>
                <a:cs typeface="Calibri" pitchFamily="34" charset="-120"/>
              </a:rPr>
              <a:t>Train time: 113s  •  Sample: 100,000 rows (upsampled to 248k)</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08 / RESULTS</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Final Model Comparison</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graphicFrame>
        <p:nvGraphicFramePr>
          <p:cNvPr id="5" name="Chart 0"/>
          <p:cNvGraphicFramePr/>
          <p:nvPr/>
        </p:nvGraphicFramePr>
        <p:xfrm>
          <a:off x="457200" y="1280160"/>
          <a:ext cx="685800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589520" y="1280160"/>
            <a:ext cx="4114800" cy="4114800"/>
          </a:xfrm>
          <a:prstGeom prst="rect">
            <a:avLst/>
          </a:prstGeom>
          <a:solidFill>
            <a:srgbClr val="0B2545"/>
          </a:solidFill>
          <a:ln/>
        </p:spPr>
        <p:txBody>
          <a:bodyPr/>
          <a:lstStyle/>
          <a:p>
            <a:endParaRPr lang="es-PY"/>
          </a:p>
        </p:txBody>
      </p:sp>
      <p:sp>
        <p:nvSpPr>
          <p:cNvPr id="7" name="Text 4"/>
          <p:cNvSpPr/>
          <p:nvPr/>
        </p:nvSpPr>
        <p:spPr>
          <a:xfrm>
            <a:off x="7772400" y="1417320"/>
            <a:ext cx="3749040" cy="365760"/>
          </a:xfrm>
          <a:prstGeom prst="rect">
            <a:avLst/>
          </a:prstGeom>
          <a:noFill/>
          <a:ln/>
        </p:spPr>
        <p:txBody>
          <a:bodyPr wrap="square" lIns="0" tIns="0" rIns="0" bIns="0" rtlCol="0" anchor="ctr"/>
          <a:lstStyle/>
          <a:p>
            <a:pPr marL="0" indent="0">
              <a:buNone/>
            </a:pPr>
            <a:r>
              <a:rPr lang="en-US" sz="1100" b="1" kern="0" spc="400" dirty="0">
                <a:solidFill>
                  <a:srgbClr val="EE6C4D"/>
                </a:solidFill>
                <a:latin typeface="Calibri" pitchFamily="34" charset="0"/>
                <a:ea typeface="Calibri" pitchFamily="34" charset="-122"/>
                <a:cs typeface="Calibri" pitchFamily="34" charset="-120"/>
              </a:rPr>
              <a:t>METRICS BREAKDOWN</a:t>
            </a:r>
            <a:endParaRPr lang="en-US" sz="1100" dirty="0"/>
          </a:p>
        </p:txBody>
      </p:sp>
      <p:sp>
        <p:nvSpPr>
          <p:cNvPr id="8" name="Text 5"/>
          <p:cNvSpPr/>
          <p:nvPr/>
        </p:nvSpPr>
        <p:spPr>
          <a:xfrm>
            <a:off x="7772400" y="1828800"/>
            <a:ext cx="1463040" cy="274320"/>
          </a:xfrm>
          <a:prstGeom prst="rect">
            <a:avLst/>
          </a:prstGeom>
          <a:noFill/>
          <a:ln/>
        </p:spPr>
        <p:txBody>
          <a:bodyPr wrap="square" lIns="0" tIns="0" rIns="0" bIns="0" rtlCol="0" anchor="ctr"/>
          <a:lstStyle/>
          <a:p>
            <a:pPr marL="0" indent="0">
              <a:buNone/>
            </a:pPr>
            <a:r>
              <a:rPr lang="en-US" sz="1000" b="1" dirty="0">
                <a:solidFill>
                  <a:srgbClr val="EE6C4D"/>
                </a:solidFill>
                <a:latin typeface="Calibri" pitchFamily="34" charset="0"/>
                <a:ea typeface="Calibri" pitchFamily="34" charset="-122"/>
                <a:cs typeface="Calibri" pitchFamily="34" charset="-120"/>
              </a:rPr>
              <a:t>Model</a:t>
            </a:r>
            <a:endParaRPr lang="en-US" sz="1000" dirty="0"/>
          </a:p>
        </p:txBody>
      </p:sp>
      <p:sp>
        <p:nvSpPr>
          <p:cNvPr id="9" name="Text 6"/>
          <p:cNvSpPr/>
          <p:nvPr/>
        </p:nvSpPr>
        <p:spPr>
          <a:xfrm>
            <a:off x="9235440" y="1828800"/>
            <a:ext cx="640080" cy="274320"/>
          </a:xfrm>
          <a:prstGeom prst="rect">
            <a:avLst/>
          </a:prstGeom>
          <a:noFill/>
          <a:ln/>
        </p:spPr>
        <p:txBody>
          <a:bodyPr wrap="square" lIns="0" tIns="0" rIns="0" bIns="0" rtlCol="0" anchor="ctr"/>
          <a:lstStyle/>
          <a:p>
            <a:pPr marL="0" indent="0">
              <a:buNone/>
            </a:pPr>
            <a:r>
              <a:rPr lang="en-US" sz="1000" b="1" dirty="0">
                <a:solidFill>
                  <a:srgbClr val="EE6C4D"/>
                </a:solidFill>
                <a:latin typeface="Calibri" pitchFamily="34" charset="0"/>
                <a:ea typeface="Calibri" pitchFamily="34" charset="-122"/>
                <a:cs typeface="Calibri" pitchFamily="34" charset="-120"/>
              </a:rPr>
              <a:t>F1</a:t>
            </a:r>
            <a:endParaRPr lang="en-US" sz="1000" dirty="0"/>
          </a:p>
        </p:txBody>
      </p:sp>
      <p:sp>
        <p:nvSpPr>
          <p:cNvPr id="10" name="Text 7"/>
          <p:cNvSpPr/>
          <p:nvPr/>
        </p:nvSpPr>
        <p:spPr>
          <a:xfrm>
            <a:off x="9875520" y="1828800"/>
            <a:ext cx="594360" cy="274320"/>
          </a:xfrm>
          <a:prstGeom prst="rect">
            <a:avLst/>
          </a:prstGeom>
          <a:noFill/>
          <a:ln/>
        </p:spPr>
        <p:txBody>
          <a:bodyPr wrap="square" lIns="0" tIns="0" rIns="0" bIns="0" rtlCol="0" anchor="ctr"/>
          <a:lstStyle/>
          <a:p>
            <a:pPr marL="0" indent="0">
              <a:buNone/>
            </a:pPr>
            <a:r>
              <a:rPr lang="en-US" sz="1000" b="1" dirty="0">
                <a:solidFill>
                  <a:srgbClr val="EE6C4D"/>
                </a:solidFill>
                <a:latin typeface="Calibri" pitchFamily="34" charset="0"/>
                <a:ea typeface="Calibri" pitchFamily="34" charset="-122"/>
                <a:cs typeface="Calibri" pitchFamily="34" charset="-120"/>
              </a:rPr>
              <a:t>Sev1</a:t>
            </a:r>
            <a:endParaRPr lang="en-US" sz="1000" dirty="0"/>
          </a:p>
        </p:txBody>
      </p:sp>
      <p:sp>
        <p:nvSpPr>
          <p:cNvPr id="11" name="Text 8"/>
          <p:cNvSpPr/>
          <p:nvPr/>
        </p:nvSpPr>
        <p:spPr>
          <a:xfrm>
            <a:off x="10469880" y="1828800"/>
            <a:ext cx="594360" cy="274320"/>
          </a:xfrm>
          <a:prstGeom prst="rect">
            <a:avLst/>
          </a:prstGeom>
          <a:noFill/>
          <a:ln/>
        </p:spPr>
        <p:txBody>
          <a:bodyPr wrap="square" lIns="0" tIns="0" rIns="0" bIns="0" rtlCol="0" anchor="ctr"/>
          <a:lstStyle/>
          <a:p>
            <a:pPr marL="0" indent="0">
              <a:buNone/>
            </a:pPr>
            <a:r>
              <a:rPr lang="en-US" sz="1000" b="1" dirty="0">
                <a:solidFill>
                  <a:srgbClr val="EE6C4D"/>
                </a:solidFill>
                <a:latin typeface="Calibri" pitchFamily="34" charset="0"/>
                <a:ea typeface="Calibri" pitchFamily="34" charset="-122"/>
                <a:cs typeface="Calibri" pitchFamily="34" charset="-120"/>
              </a:rPr>
              <a:t>Sev4</a:t>
            </a:r>
            <a:endParaRPr lang="en-US" sz="1000" dirty="0"/>
          </a:p>
        </p:txBody>
      </p:sp>
      <p:sp>
        <p:nvSpPr>
          <p:cNvPr id="12" name="Text 9"/>
          <p:cNvSpPr/>
          <p:nvPr/>
        </p:nvSpPr>
        <p:spPr>
          <a:xfrm>
            <a:off x="11064240" y="1828800"/>
            <a:ext cx="640080" cy="274320"/>
          </a:xfrm>
          <a:prstGeom prst="rect">
            <a:avLst/>
          </a:prstGeom>
          <a:noFill/>
          <a:ln/>
        </p:spPr>
        <p:txBody>
          <a:bodyPr wrap="square" lIns="0" tIns="0" rIns="0" bIns="0" rtlCol="0" anchor="ctr"/>
          <a:lstStyle/>
          <a:p>
            <a:pPr marL="0" indent="0">
              <a:buNone/>
            </a:pPr>
            <a:r>
              <a:rPr lang="en-US" sz="1000" b="1" dirty="0">
                <a:solidFill>
                  <a:srgbClr val="EE6C4D"/>
                </a:solidFill>
                <a:latin typeface="Calibri" pitchFamily="34" charset="0"/>
                <a:ea typeface="Calibri" pitchFamily="34" charset="-122"/>
                <a:cs typeface="Calibri" pitchFamily="34" charset="-120"/>
              </a:rPr>
              <a:t>Time</a:t>
            </a:r>
            <a:endParaRPr lang="en-US" sz="1000" dirty="0"/>
          </a:p>
        </p:txBody>
      </p:sp>
      <p:sp>
        <p:nvSpPr>
          <p:cNvPr id="13" name="Text 10"/>
          <p:cNvSpPr/>
          <p:nvPr/>
        </p:nvSpPr>
        <p:spPr>
          <a:xfrm>
            <a:off x="7772400" y="2194560"/>
            <a:ext cx="146304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LR</a:t>
            </a:r>
            <a:endParaRPr lang="en-US" sz="1100" dirty="0"/>
          </a:p>
        </p:txBody>
      </p:sp>
      <p:sp>
        <p:nvSpPr>
          <p:cNvPr id="14" name="Text 11"/>
          <p:cNvSpPr/>
          <p:nvPr/>
        </p:nvSpPr>
        <p:spPr>
          <a:xfrm>
            <a:off x="9235440" y="2194560"/>
            <a:ext cx="64008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0.52</a:t>
            </a:r>
            <a:endParaRPr lang="en-US" sz="1100" dirty="0"/>
          </a:p>
        </p:txBody>
      </p:sp>
      <p:sp>
        <p:nvSpPr>
          <p:cNvPr id="15" name="Text 12"/>
          <p:cNvSpPr/>
          <p:nvPr/>
        </p:nvSpPr>
        <p:spPr>
          <a:xfrm>
            <a:off x="9875520" y="2194560"/>
            <a:ext cx="59436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0.12</a:t>
            </a:r>
            <a:endParaRPr lang="en-US" sz="1100" dirty="0"/>
          </a:p>
        </p:txBody>
      </p:sp>
      <p:sp>
        <p:nvSpPr>
          <p:cNvPr id="16" name="Text 13"/>
          <p:cNvSpPr/>
          <p:nvPr/>
        </p:nvSpPr>
        <p:spPr>
          <a:xfrm>
            <a:off x="10469880" y="2194560"/>
            <a:ext cx="59436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0.15</a:t>
            </a:r>
            <a:endParaRPr lang="en-US" sz="1100" dirty="0"/>
          </a:p>
        </p:txBody>
      </p:sp>
      <p:sp>
        <p:nvSpPr>
          <p:cNvPr id="17" name="Text 14"/>
          <p:cNvSpPr/>
          <p:nvPr/>
        </p:nvSpPr>
        <p:spPr>
          <a:xfrm>
            <a:off x="11064240" y="2194560"/>
            <a:ext cx="64008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12s</a:t>
            </a:r>
            <a:endParaRPr lang="en-US" sz="1100" dirty="0"/>
          </a:p>
        </p:txBody>
      </p:sp>
      <p:sp>
        <p:nvSpPr>
          <p:cNvPr id="18" name="Text 15"/>
          <p:cNvSpPr/>
          <p:nvPr/>
        </p:nvSpPr>
        <p:spPr>
          <a:xfrm>
            <a:off x="7772400" y="2697480"/>
            <a:ext cx="146304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MLP</a:t>
            </a:r>
            <a:endParaRPr lang="en-US" sz="1100" dirty="0"/>
          </a:p>
        </p:txBody>
      </p:sp>
      <p:sp>
        <p:nvSpPr>
          <p:cNvPr id="19" name="Text 16"/>
          <p:cNvSpPr/>
          <p:nvPr/>
        </p:nvSpPr>
        <p:spPr>
          <a:xfrm>
            <a:off x="9235440" y="2697480"/>
            <a:ext cx="64008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0.74</a:t>
            </a:r>
            <a:endParaRPr lang="en-US" sz="1100" dirty="0"/>
          </a:p>
        </p:txBody>
      </p:sp>
      <p:sp>
        <p:nvSpPr>
          <p:cNvPr id="20" name="Text 17"/>
          <p:cNvSpPr/>
          <p:nvPr/>
        </p:nvSpPr>
        <p:spPr>
          <a:xfrm>
            <a:off x="9875520" y="2697480"/>
            <a:ext cx="59436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0.43</a:t>
            </a:r>
            <a:endParaRPr lang="en-US" sz="1100" dirty="0"/>
          </a:p>
        </p:txBody>
      </p:sp>
      <p:sp>
        <p:nvSpPr>
          <p:cNvPr id="21" name="Text 18"/>
          <p:cNvSpPr/>
          <p:nvPr/>
        </p:nvSpPr>
        <p:spPr>
          <a:xfrm>
            <a:off x="10469880" y="2697480"/>
            <a:ext cx="59436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0.21</a:t>
            </a:r>
            <a:endParaRPr lang="en-US" sz="1100" dirty="0"/>
          </a:p>
        </p:txBody>
      </p:sp>
      <p:sp>
        <p:nvSpPr>
          <p:cNvPr id="22" name="Text 19"/>
          <p:cNvSpPr/>
          <p:nvPr/>
        </p:nvSpPr>
        <p:spPr>
          <a:xfrm>
            <a:off x="11064240" y="2697480"/>
            <a:ext cx="64008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113s</a:t>
            </a:r>
            <a:endParaRPr lang="en-US" sz="1100" dirty="0"/>
          </a:p>
        </p:txBody>
      </p:sp>
      <p:sp>
        <p:nvSpPr>
          <p:cNvPr id="23" name="Text 20"/>
          <p:cNvSpPr/>
          <p:nvPr/>
        </p:nvSpPr>
        <p:spPr>
          <a:xfrm>
            <a:off x="7772400" y="3200400"/>
            <a:ext cx="146304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RF</a:t>
            </a:r>
            <a:endParaRPr lang="en-US" sz="1100" dirty="0"/>
          </a:p>
        </p:txBody>
      </p:sp>
      <p:sp>
        <p:nvSpPr>
          <p:cNvPr id="24" name="Text 21"/>
          <p:cNvSpPr/>
          <p:nvPr/>
        </p:nvSpPr>
        <p:spPr>
          <a:xfrm>
            <a:off x="9235440" y="3200400"/>
            <a:ext cx="64008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0.76</a:t>
            </a:r>
            <a:endParaRPr lang="en-US" sz="1100" dirty="0"/>
          </a:p>
        </p:txBody>
      </p:sp>
      <p:sp>
        <p:nvSpPr>
          <p:cNvPr id="25" name="Text 22"/>
          <p:cNvSpPr/>
          <p:nvPr/>
        </p:nvSpPr>
        <p:spPr>
          <a:xfrm>
            <a:off x="9875520" y="3200400"/>
            <a:ext cx="59436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0.48</a:t>
            </a:r>
            <a:endParaRPr lang="en-US" sz="1100" dirty="0"/>
          </a:p>
        </p:txBody>
      </p:sp>
      <p:sp>
        <p:nvSpPr>
          <p:cNvPr id="26" name="Text 23"/>
          <p:cNvSpPr/>
          <p:nvPr/>
        </p:nvSpPr>
        <p:spPr>
          <a:xfrm>
            <a:off x="10469880" y="3200400"/>
            <a:ext cx="59436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0.29</a:t>
            </a:r>
            <a:endParaRPr lang="en-US" sz="1100" dirty="0"/>
          </a:p>
        </p:txBody>
      </p:sp>
      <p:sp>
        <p:nvSpPr>
          <p:cNvPr id="27" name="Text 24"/>
          <p:cNvSpPr/>
          <p:nvPr/>
        </p:nvSpPr>
        <p:spPr>
          <a:xfrm>
            <a:off x="11064240" y="3200400"/>
            <a:ext cx="640080" cy="3657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237s</a:t>
            </a:r>
            <a:endParaRPr lang="en-US" sz="1100" dirty="0"/>
          </a:p>
        </p:txBody>
      </p:sp>
      <p:sp>
        <p:nvSpPr>
          <p:cNvPr id="28" name="Text 25"/>
          <p:cNvSpPr/>
          <p:nvPr/>
        </p:nvSpPr>
        <p:spPr>
          <a:xfrm>
            <a:off x="7772400" y="3703320"/>
            <a:ext cx="1463040" cy="365760"/>
          </a:xfrm>
          <a:prstGeom prst="rect">
            <a:avLst/>
          </a:prstGeom>
          <a:noFill/>
          <a:ln/>
        </p:spPr>
        <p:txBody>
          <a:bodyPr wrap="square" lIns="0" tIns="0" rIns="0" bIns="0" rtlCol="0" anchor="ctr"/>
          <a:lstStyle/>
          <a:p>
            <a:pPr marL="0" indent="0">
              <a:buNone/>
            </a:pPr>
            <a:r>
              <a:rPr lang="en-US" sz="1100" b="1" dirty="0">
                <a:solidFill>
                  <a:srgbClr val="D4A017"/>
                </a:solidFill>
                <a:latin typeface="Calibri" pitchFamily="34" charset="0"/>
                <a:ea typeface="Calibri" pitchFamily="34" charset="-122"/>
                <a:cs typeface="Calibri" pitchFamily="34" charset="-120"/>
              </a:rPr>
              <a:t>LGBM</a:t>
            </a:r>
            <a:endParaRPr lang="en-US" sz="1100" dirty="0"/>
          </a:p>
        </p:txBody>
      </p:sp>
      <p:sp>
        <p:nvSpPr>
          <p:cNvPr id="29" name="Text 26"/>
          <p:cNvSpPr/>
          <p:nvPr/>
        </p:nvSpPr>
        <p:spPr>
          <a:xfrm>
            <a:off x="9235440" y="3703320"/>
            <a:ext cx="640080" cy="365760"/>
          </a:xfrm>
          <a:prstGeom prst="rect">
            <a:avLst/>
          </a:prstGeom>
          <a:noFill/>
          <a:ln/>
        </p:spPr>
        <p:txBody>
          <a:bodyPr wrap="square" lIns="0" tIns="0" rIns="0" bIns="0" rtlCol="0" anchor="ctr"/>
          <a:lstStyle/>
          <a:p>
            <a:pPr marL="0" indent="0">
              <a:buNone/>
            </a:pPr>
            <a:r>
              <a:rPr lang="en-US" sz="1100" b="1" dirty="0">
                <a:solidFill>
                  <a:srgbClr val="D4A017"/>
                </a:solidFill>
                <a:latin typeface="Calibri" pitchFamily="34" charset="0"/>
                <a:ea typeface="Calibri" pitchFamily="34" charset="-122"/>
                <a:cs typeface="Calibri" pitchFamily="34" charset="-120"/>
              </a:rPr>
              <a:t>0.76</a:t>
            </a:r>
            <a:endParaRPr lang="en-US" sz="1100" dirty="0"/>
          </a:p>
        </p:txBody>
      </p:sp>
      <p:sp>
        <p:nvSpPr>
          <p:cNvPr id="30" name="Text 27"/>
          <p:cNvSpPr/>
          <p:nvPr/>
        </p:nvSpPr>
        <p:spPr>
          <a:xfrm>
            <a:off x="9875520" y="3703320"/>
            <a:ext cx="594360" cy="365760"/>
          </a:xfrm>
          <a:prstGeom prst="rect">
            <a:avLst/>
          </a:prstGeom>
          <a:noFill/>
          <a:ln/>
        </p:spPr>
        <p:txBody>
          <a:bodyPr wrap="square" lIns="0" tIns="0" rIns="0" bIns="0" rtlCol="0" anchor="ctr"/>
          <a:lstStyle/>
          <a:p>
            <a:pPr marL="0" indent="0">
              <a:buNone/>
            </a:pPr>
            <a:r>
              <a:rPr lang="en-US" sz="1100" b="1" dirty="0">
                <a:solidFill>
                  <a:srgbClr val="D4A017"/>
                </a:solidFill>
                <a:latin typeface="Calibri" pitchFamily="34" charset="0"/>
                <a:ea typeface="Calibri" pitchFamily="34" charset="-122"/>
                <a:cs typeface="Calibri" pitchFamily="34" charset="-120"/>
              </a:rPr>
              <a:t>0.50</a:t>
            </a:r>
            <a:endParaRPr lang="en-US" sz="1100" dirty="0"/>
          </a:p>
        </p:txBody>
      </p:sp>
      <p:sp>
        <p:nvSpPr>
          <p:cNvPr id="31" name="Text 28"/>
          <p:cNvSpPr/>
          <p:nvPr/>
        </p:nvSpPr>
        <p:spPr>
          <a:xfrm>
            <a:off x="10469880" y="3703320"/>
            <a:ext cx="594360" cy="365760"/>
          </a:xfrm>
          <a:prstGeom prst="rect">
            <a:avLst/>
          </a:prstGeom>
          <a:noFill/>
          <a:ln/>
        </p:spPr>
        <p:txBody>
          <a:bodyPr wrap="square" lIns="0" tIns="0" rIns="0" bIns="0" rtlCol="0" anchor="ctr"/>
          <a:lstStyle/>
          <a:p>
            <a:pPr marL="0" indent="0">
              <a:buNone/>
            </a:pPr>
            <a:r>
              <a:rPr lang="en-US" sz="1100" b="1" dirty="0">
                <a:solidFill>
                  <a:srgbClr val="D4A017"/>
                </a:solidFill>
                <a:latin typeface="Calibri" pitchFamily="34" charset="0"/>
                <a:ea typeface="Calibri" pitchFamily="34" charset="-122"/>
                <a:cs typeface="Calibri" pitchFamily="34" charset="-120"/>
              </a:rPr>
              <a:t>0.29</a:t>
            </a:r>
            <a:endParaRPr lang="en-US" sz="1100" dirty="0"/>
          </a:p>
        </p:txBody>
      </p:sp>
      <p:sp>
        <p:nvSpPr>
          <p:cNvPr id="32" name="Text 29"/>
          <p:cNvSpPr/>
          <p:nvPr/>
        </p:nvSpPr>
        <p:spPr>
          <a:xfrm>
            <a:off x="11064240" y="3703320"/>
            <a:ext cx="640080" cy="365760"/>
          </a:xfrm>
          <a:prstGeom prst="rect">
            <a:avLst/>
          </a:prstGeom>
          <a:noFill/>
          <a:ln/>
        </p:spPr>
        <p:txBody>
          <a:bodyPr wrap="square" lIns="0" tIns="0" rIns="0" bIns="0" rtlCol="0" anchor="ctr"/>
          <a:lstStyle/>
          <a:p>
            <a:pPr marL="0" indent="0">
              <a:buNone/>
            </a:pPr>
            <a:r>
              <a:rPr lang="en-US" sz="1100" b="1" dirty="0">
                <a:solidFill>
                  <a:srgbClr val="D4A017"/>
                </a:solidFill>
                <a:latin typeface="Calibri" pitchFamily="34" charset="0"/>
                <a:ea typeface="Calibri" pitchFamily="34" charset="-122"/>
                <a:cs typeface="Calibri" pitchFamily="34" charset="-120"/>
              </a:rPr>
              <a:t>716s</a:t>
            </a:r>
            <a:endParaRPr lang="en-US" sz="1100" dirty="0"/>
          </a:p>
        </p:txBody>
      </p:sp>
      <p:sp>
        <p:nvSpPr>
          <p:cNvPr id="33" name="Shape 30"/>
          <p:cNvSpPr/>
          <p:nvPr/>
        </p:nvSpPr>
        <p:spPr>
          <a:xfrm>
            <a:off x="7589520" y="4663440"/>
            <a:ext cx="4114800" cy="777240"/>
          </a:xfrm>
          <a:prstGeom prst="rect">
            <a:avLst/>
          </a:prstGeom>
          <a:solidFill>
            <a:srgbClr val="D4A017"/>
          </a:solidFill>
          <a:ln/>
        </p:spPr>
        <p:txBody>
          <a:bodyPr/>
          <a:lstStyle/>
          <a:p>
            <a:endParaRPr lang="es-PY"/>
          </a:p>
        </p:txBody>
      </p:sp>
      <p:sp>
        <p:nvSpPr>
          <p:cNvPr id="34" name="Text 31"/>
          <p:cNvSpPr/>
          <p:nvPr/>
        </p:nvSpPr>
        <p:spPr>
          <a:xfrm>
            <a:off x="7772400" y="4754880"/>
            <a:ext cx="3749040" cy="320040"/>
          </a:xfrm>
          <a:prstGeom prst="rect">
            <a:avLst/>
          </a:prstGeom>
          <a:noFill/>
          <a:ln/>
        </p:spPr>
        <p:txBody>
          <a:bodyPr wrap="square" lIns="0" tIns="0" rIns="0" bIns="0" rtlCol="0" anchor="ctr"/>
          <a:lstStyle/>
          <a:p>
            <a:pPr marL="0" indent="0">
              <a:buNone/>
            </a:pPr>
            <a:r>
              <a:rPr lang="en-US" sz="1400" b="1" dirty="0">
                <a:solidFill>
                  <a:srgbClr val="0B2545"/>
                </a:solidFill>
                <a:latin typeface="Calibri" pitchFamily="34" charset="0"/>
                <a:ea typeface="Calibri" pitchFamily="34" charset="-122"/>
                <a:cs typeface="Calibri" pitchFamily="34" charset="-120"/>
              </a:rPr>
              <a:t>🏆  WINNER: LightGBM</a:t>
            </a:r>
            <a:endParaRPr lang="en-US" sz="1400" dirty="0"/>
          </a:p>
        </p:txBody>
      </p:sp>
      <p:sp>
        <p:nvSpPr>
          <p:cNvPr id="35" name="Text 32"/>
          <p:cNvSpPr/>
          <p:nvPr/>
        </p:nvSpPr>
        <p:spPr>
          <a:xfrm>
            <a:off x="7772400" y="5074920"/>
            <a:ext cx="3749040" cy="274320"/>
          </a:xfrm>
          <a:prstGeom prst="rect">
            <a:avLst/>
          </a:prstGeom>
          <a:noFill/>
          <a:ln/>
        </p:spPr>
        <p:txBody>
          <a:bodyPr wrap="square" lIns="0" tIns="0" rIns="0" bIns="0" rtlCol="0" anchor="ctr"/>
          <a:lstStyle/>
          <a:p>
            <a:pPr marL="0" indent="0">
              <a:buNone/>
            </a:pPr>
            <a:r>
              <a:rPr lang="en-US" sz="1000" i="1" dirty="0">
                <a:solidFill>
                  <a:srgbClr val="0B2545"/>
                </a:solidFill>
                <a:latin typeface="Calibri" pitchFamily="34" charset="0"/>
                <a:ea typeface="Calibri" pitchFamily="34" charset="-122"/>
                <a:cs typeface="Calibri" pitchFamily="34" charset="-120"/>
              </a:rPr>
              <a:t>Best F1 + best minority-class recall + most training data</a:t>
            </a:r>
            <a:endParaRPr lang="en-US" sz="1000" dirty="0"/>
          </a:p>
        </p:txBody>
      </p:sp>
      <p:sp>
        <p:nvSpPr>
          <p:cNvPr id="36" name="Shape 33"/>
          <p:cNvSpPr/>
          <p:nvPr/>
        </p:nvSpPr>
        <p:spPr>
          <a:xfrm>
            <a:off x="457200" y="5577840"/>
            <a:ext cx="11247120" cy="777240"/>
          </a:xfrm>
          <a:prstGeom prst="rect">
            <a:avLst/>
          </a:prstGeom>
          <a:solidFill>
            <a:srgbClr val="FFFFFF"/>
          </a:solidFill>
          <a:ln w="12700">
            <a:solidFill>
              <a:srgbClr val="E5E7EB"/>
            </a:solidFill>
            <a:prstDash val="solid"/>
          </a:ln>
        </p:spPr>
        <p:txBody>
          <a:bodyPr/>
          <a:lstStyle/>
          <a:p>
            <a:endParaRPr lang="es-PY"/>
          </a:p>
        </p:txBody>
      </p:sp>
      <p:sp>
        <p:nvSpPr>
          <p:cNvPr id="37" name="Text 34"/>
          <p:cNvSpPr/>
          <p:nvPr/>
        </p:nvSpPr>
        <p:spPr>
          <a:xfrm>
            <a:off x="640080" y="5577840"/>
            <a:ext cx="10972800" cy="777240"/>
          </a:xfrm>
          <a:prstGeom prst="rect">
            <a:avLst/>
          </a:prstGeom>
          <a:noFill/>
          <a:ln/>
        </p:spPr>
        <p:txBody>
          <a:bodyPr wrap="square" lIns="0" tIns="0" rIns="0" bIns="0" rtlCol="0" anchor="ctr"/>
          <a:lstStyle/>
          <a:p>
            <a:pPr marL="0" indent="0">
              <a:buNone/>
            </a:pPr>
            <a:r>
              <a:rPr lang="en-US" sz="1200" b="1" dirty="0">
                <a:solidFill>
                  <a:srgbClr val="EE6C4D"/>
                </a:solidFill>
                <a:latin typeface="Calibri" pitchFamily="34" charset="0"/>
                <a:ea typeface="Calibri" pitchFamily="34" charset="-122"/>
                <a:cs typeface="Calibri" pitchFamily="34" charset="-120"/>
              </a:rPr>
              <a:t>TAKEAWAYS:  </a:t>
            </a:r>
            <a:r>
              <a:rPr lang="en-US" sz="1200" dirty="0">
                <a:solidFill>
                  <a:srgbClr val="1B1B1B"/>
                </a:solidFill>
                <a:latin typeface="Calibri" pitchFamily="34" charset="0"/>
                <a:ea typeface="Calibri" pitchFamily="34" charset="-122"/>
                <a:cs typeface="Calibri" pitchFamily="34" charset="-120"/>
              </a:rPr>
              <a:t>(1) LR proves problem is non-linear  (2) Tree models cluster around 0.76  (3) LightGBM trained on 5× more data than RF  </a:t>
            </a:r>
            <a:r>
              <a:rPr lang="en-US" sz="1200" b="1" dirty="0">
                <a:solidFill>
                  <a:srgbClr val="1B1B1B"/>
                </a:solidFill>
                <a:latin typeface="Calibri" pitchFamily="34" charset="0"/>
                <a:ea typeface="Calibri" pitchFamily="34" charset="-122"/>
                <a:cs typeface="Calibri" pitchFamily="34" charset="-120"/>
              </a:rPr>
              <a:t>(4) Trees &gt; Neural Nets on tabular data</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4F8"/>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274320"/>
          </a:xfrm>
          <a:prstGeom prst="rect">
            <a:avLst/>
          </a:prstGeom>
          <a:noFill/>
          <a:ln/>
        </p:spPr>
        <p:txBody>
          <a:bodyPr wrap="square" lIns="0" tIns="0" rIns="0" bIns="0" rtlCol="0" anchor="ctr"/>
          <a:lstStyle/>
          <a:p>
            <a:pPr marL="0" indent="0">
              <a:buNone/>
            </a:pPr>
            <a:r>
              <a:rPr lang="en-US" sz="1100" b="1" kern="0" spc="600" dirty="0">
                <a:solidFill>
                  <a:srgbClr val="EE6C4D"/>
                </a:solidFill>
                <a:latin typeface="Calibri" pitchFamily="34" charset="0"/>
                <a:ea typeface="Calibri" pitchFamily="34" charset="-122"/>
                <a:cs typeface="Calibri" pitchFamily="34" charset="-120"/>
              </a:rPr>
              <a:t>09 / DISCUSSION</a:t>
            </a:r>
            <a:endParaRPr lang="en-US" sz="1100" dirty="0"/>
          </a:p>
        </p:txBody>
      </p:sp>
      <p:sp>
        <p:nvSpPr>
          <p:cNvPr id="3" name="Text 1"/>
          <p:cNvSpPr/>
          <p:nvPr/>
        </p:nvSpPr>
        <p:spPr>
          <a:xfrm>
            <a:off x="457200" y="502920"/>
            <a:ext cx="11247120" cy="640080"/>
          </a:xfrm>
          <a:prstGeom prst="rect">
            <a:avLst/>
          </a:prstGeom>
          <a:noFill/>
          <a:ln/>
        </p:spPr>
        <p:txBody>
          <a:bodyPr wrap="square" lIns="0" tIns="0" rIns="0" bIns="0" rtlCol="0" anchor="ctr"/>
          <a:lstStyle/>
          <a:p>
            <a:pPr marL="0" indent="0">
              <a:buNone/>
            </a:pPr>
            <a:r>
              <a:rPr lang="en-US" sz="2800" b="1" dirty="0">
                <a:solidFill>
                  <a:srgbClr val="0B2545"/>
                </a:solidFill>
                <a:latin typeface="Georgia" pitchFamily="34" charset="0"/>
                <a:ea typeface="Georgia" pitchFamily="34" charset="-122"/>
                <a:cs typeface="Georgia" pitchFamily="34" charset="-120"/>
              </a:rPr>
              <a:t>Limitations &amp; Future Work</a:t>
            </a:r>
            <a:endParaRPr lang="en-US" sz="2800" dirty="0"/>
          </a:p>
        </p:txBody>
      </p:sp>
      <p:sp>
        <p:nvSpPr>
          <p:cNvPr id="4" name="Text 2"/>
          <p:cNvSpPr/>
          <p:nvPr/>
        </p:nvSpPr>
        <p:spPr>
          <a:xfrm>
            <a:off x="457200" y="6492240"/>
            <a:ext cx="11247120" cy="274320"/>
          </a:xfrm>
          <a:prstGeom prst="rect">
            <a:avLst/>
          </a:prstGeom>
          <a:noFill/>
          <a:ln/>
        </p:spPr>
        <p:txBody>
          <a:bodyPr wrap="square" lIns="0" tIns="0" rIns="0" bIns="0" rtlCol="0" anchor="ctr"/>
          <a:lstStyle/>
          <a:p>
            <a:pPr marL="0" indent="0" algn="l">
              <a:buNone/>
            </a:pPr>
            <a:r>
              <a:rPr lang="en-US" sz="900" dirty="0">
                <a:solidFill>
                  <a:srgbClr val="5C6B7A"/>
                </a:solidFill>
                <a:latin typeface="Calibri" pitchFamily="34" charset="0"/>
                <a:ea typeface="Calibri" pitchFamily="34" charset="-122"/>
                <a:cs typeface="Calibri" pitchFamily="34" charset="-120"/>
              </a:rPr>
              <a:t>US Accidents Severity Prediction  •  DATS 6202</a:t>
            </a:r>
            <a:endParaRPr lang="en-US" sz="900" dirty="0"/>
          </a:p>
        </p:txBody>
      </p:sp>
      <p:sp>
        <p:nvSpPr>
          <p:cNvPr id="5" name="Shape 3"/>
          <p:cNvSpPr/>
          <p:nvPr/>
        </p:nvSpPr>
        <p:spPr>
          <a:xfrm>
            <a:off x="457200" y="1371600"/>
            <a:ext cx="5577840" cy="4937760"/>
          </a:xfrm>
          <a:prstGeom prst="rect">
            <a:avLst/>
          </a:prstGeom>
          <a:solidFill>
            <a:srgbClr val="FFFFFF"/>
          </a:solidFill>
          <a:ln w="12700">
            <a:solidFill>
              <a:srgbClr val="E5E7EB"/>
            </a:solidFill>
            <a:prstDash val="solid"/>
          </a:ln>
        </p:spPr>
        <p:txBody>
          <a:bodyPr/>
          <a:lstStyle/>
          <a:p>
            <a:endParaRPr lang="es-PY"/>
          </a:p>
        </p:txBody>
      </p:sp>
      <p:sp>
        <p:nvSpPr>
          <p:cNvPr id="6" name="Shape 4"/>
          <p:cNvSpPr/>
          <p:nvPr/>
        </p:nvSpPr>
        <p:spPr>
          <a:xfrm>
            <a:off x="457200" y="1371600"/>
            <a:ext cx="91440" cy="4937760"/>
          </a:xfrm>
          <a:prstGeom prst="rect">
            <a:avLst/>
          </a:prstGeom>
          <a:solidFill>
            <a:srgbClr val="EE6C4D"/>
          </a:solidFill>
          <a:ln/>
        </p:spPr>
        <p:txBody>
          <a:bodyPr/>
          <a:lstStyle/>
          <a:p>
            <a:endParaRPr lang="es-PY"/>
          </a:p>
        </p:txBody>
      </p:sp>
      <p:sp>
        <p:nvSpPr>
          <p:cNvPr id="7" name="Text 5"/>
          <p:cNvSpPr/>
          <p:nvPr/>
        </p:nvSpPr>
        <p:spPr>
          <a:xfrm>
            <a:off x="777240" y="1554480"/>
            <a:ext cx="5029200" cy="365760"/>
          </a:xfrm>
          <a:prstGeom prst="rect">
            <a:avLst/>
          </a:prstGeom>
          <a:noFill/>
          <a:ln/>
        </p:spPr>
        <p:txBody>
          <a:bodyPr wrap="square" lIns="0" tIns="0" rIns="0" bIns="0" rtlCol="0" anchor="ctr"/>
          <a:lstStyle/>
          <a:p>
            <a:pPr marL="0" indent="0">
              <a:buNone/>
            </a:pPr>
            <a:r>
              <a:rPr lang="en-US" sz="1300" b="1" kern="0" spc="400" dirty="0">
                <a:solidFill>
                  <a:srgbClr val="EE6C4D"/>
                </a:solidFill>
                <a:latin typeface="Calibri" pitchFamily="34" charset="0"/>
                <a:ea typeface="Calibri" pitchFamily="34" charset="-122"/>
                <a:cs typeface="Calibri" pitchFamily="34" charset="-120"/>
              </a:rPr>
              <a:t>LIMITATIONS</a:t>
            </a:r>
            <a:endParaRPr lang="en-US" sz="1300" dirty="0"/>
          </a:p>
        </p:txBody>
      </p:sp>
      <p:sp>
        <p:nvSpPr>
          <p:cNvPr id="8" name="Text 6"/>
          <p:cNvSpPr/>
          <p:nvPr/>
        </p:nvSpPr>
        <p:spPr>
          <a:xfrm>
            <a:off x="777240" y="1965960"/>
            <a:ext cx="5029200" cy="292608"/>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Free Colab RAM</a:t>
            </a:r>
            <a:endParaRPr lang="en-US" sz="1300" dirty="0"/>
          </a:p>
        </p:txBody>
      </p:sp>
      <p:sp>
        <p:nvSpPr>
          <p:cNvPr id="9" name="Text 7"/>
          <p:cNvSpPr/>
          <p:nvPr/>
        </p:nvSpPr>
        <p:spPr>
          <a:xfrm>
            <a:off x="777240" y="2258568"/>
            <a:ext cx="50292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Capped sample at 500k (7.2% of data)</a:t>
            </a:r>
            <a:endParaRPr lang="en-US" sz="1100" dirty="0"/>
          </a:p>
        </p:txBody>
      </p:sp>
      <p:sp>
        <p:nvSpPr>
          <p:cNvPr id="10" name="Text 8"/>
          <p:cNvSpPr/>
          <p:nvPr/>
        </p:nvSpPr>
        <p:spPr>
          <a:xfrm>
            <a:off x="777240" y="2807208"/>
            <a:ext cx="5029200" cy="292608"/>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Limited GridSearch</a:t>
            </a:r>
            <a:endParaRPr lang="en-US" sz="1300" dirty="0"/>
          </a:p>
        </p:txBody>
      </p:sp>
      <p:sp>
        <p:nvSpPr>
          <p:cNvPr id="11" name="Text 9"/>
          <p:cNvSpPr/>
          <p:nvPr/>
        </p:nvSpPr>
        <p:spPr>
          <a:xfrm>
            <a:off x="777240" y="3099816"/>
            <a:ext cx="50292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Time constraints → small parameter grids</a:t>
            </a:r>
            <a:endParaRPr lang="en-US" sz="1100" dirty="0"/>
          </a:p>
        </p:txBody>
      </p:sp>
      <p:sp>
        <p:nvSpPr>
          <p:cNvPr id="12" name="Text 10"/>
          <p:cNvSpPr/>
          <p:nvPr/>
        </p:nvSpPr>
        <p:spPr>
          <a:xfrm>
            <a:off x="777240" y="3648456"/>
            <a:ext cx="5029200" cy="292608"/>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Severity 4 hard to predict</a:t>
            </a:r>
            <a:endParaRPr lang="en-US" sz="1300" dirty="0"/>
          </a:p>
        </p:txBody>
      </p:sp>
      <p:sp>
        <p:nvSpPr>
          <p:cNvPr id="13" name="Text 11"/>
          <p:cNvSpPr/>
          <p:nvPr/>
        </p:nvSpPr>
        <p:spPr>
          <a:xfrm>
            <a:off x="777240" y="3941064"/>
            <a:ext cx="50292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Only 2.6% of data; F1 = 0.29 across models</a:t>
            </a:r>
            <a:endParaRPr lang="en-US" sz="1100" dirty="0"/>
          </a:p>
        </p:txBody>
      </p:sp>
      <p:sp>
        <p:nvSpPr>
          <p:cNvPr id="14" name="Text 12"/>
          <p:cNvSpPr/>
          <p:nvPr/>
        </p:nvSpPr>
        <p:spPr>
          <a:xfrm>
            <a:off x="777240" y="4489704"/>
            <a:ext cx="5029200" cy="292608"/>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Visibility default values</a:t>
            </a:r>
            <a:endParaRPr lang="en-US" sz="1300" dirty="0"/>
          </a:p>
        </p:txBody>
      </p:sp>
      <p:sp>
        <p:nvSpPr>
          <p:cNvPr id="15" name="Text 13"/>
          <p:cNvSpPr/>
          <p:nvPr/>
        </p:nvSpPr>
        <p:spPr>
          <a:xfrm>
            <a:off x="777240" y="4782312"/>
            <a:ext cx="50292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Spike at 10 mi suggests imputation noise</a:t>
            </a:r>
            <a:endParaRPr lang="en-US" sz="1100" dirty="0"/>
          </a:p>
        </p:txBody>
      </p:sp>
      <p:sp>
        <p:nvSpPr>
          <p:cNvPr id="16" name="Text 14"/>
          <p:cNvSpPr/>
          <p:nvPr/>
        </p:nvSpPr>
        <p:spPr>
          <a:xfrm>
            <a:off x="777240" y="5330952"/>
            <a:ext cx="5029200" cy="292608"/>
          </a:xfrm>
          <a:prstGeom prst="rect">
            <a:avLst/>
          </a:prstGeom>
          <a:noFill/>
          <a:ln/>
        </p:spPr>
        <p:txBody>
          <a:bodyPr wrap="square" lIns="0" tIns="0" rIns="0" bIns="0" rtlCol="0" anchor="ctr"/>
          <a:lstStyle/>
          <a:p>
            <a:pPr marL="0" indent="0">
              <a:buNone/>
            </a:pPr>
            <a:r>
              <a:rPr lang="en-US" sz="1300" b="1" dirty="0">
                <a:solidFill>
                  <a:srgbClr val="0B2545"/>
                </a:solidFill>
                <a:latin typeface="Calibri" pitchFamily="34" charset="0"/>
                <a:ea typeface="Calibri" pitchFamily="34" charset="-122"/>
                <a:cs typeface="Calibri" pitchFamily="34" charset="-120"/>
              </a:rPr>
              <a:t>No driver/vehicle data</a:t>
            </a:r>
            <a:endParaRPr lang="en-US" sz="1300" dirty="0"/>
          </a:p>
        </p:txBody>
      </p:sp>
      <p:sp>
        <p:nvSpPr>
          <p:cNvPr id="17" name="Text 15"/>
          <p:cNvSpPr/>
          <p:nvPr/>
        </p:nvSpPr>
        <p:spPr>
          <a:xfrm>
            <a:off x="777240" y="5623560"/>
            <a:ext cx="5029200" cy="365760"/>
          </a:xfrm>
          <a:prstGeom prst="rect">
            <a:avLst/>
          </a:prstGeom>
          <a:noFill/>
          <a:ln/>
        </p:spPr>
        <p:txBody>
          <a:bodyPr wrap="square" lIns="0" tIns="0" rIns="0" bIns="0" rtlCol="0" anchor="ctr"/>
          <a:lstStyle/>
          <a:p>
            <a:pPr marL="0" indent="0">
              <a:buNone/>
            </a:pPr>
            <a:r>
              <a:rPr lang="en-US" sz="1100" dirty="0">
                <a:solidFill>
                  <a:srgbClr val="1B1B1B"/>
                </a:solidFill>
                <a:latin typeface="Calibri" pitchFamily="34" charset="0"/>
                <a:ea typeface="Calibri" pitchFamily="34" charset="-122"/>
                <a:cs typeface="Calibri" pitchFamily="34" charset="-120"/>
              </a:rPr>
              <a:t>Likely strong predictors are missing</a:t>
            </a:r>
            <a:endParaRPr lang="en-US" sz="1100" dirty="0"/>
          </a:p>
        </p:txBody>
      </p:sp>
      <p:sp>
        <p:nvSpPr>
          <p:cNvPr id="18" name="Shape 16"/>
          <p:cNvSpPr/>
          <p:nvPr/>
        </p:nvSpPr>
        <p:spPr>
          <a:xfrm>
            <a:off x="6309360" y="1371600"/>
            <a:ext cx="5394960" cy="4937760"/>
          </a:xfrm>
          <a:prstGeom prst="rect">
            <a:avLst/>
          </a:prstGeom>
          <a:solidFill>
            <a:srgbClr val="0B2545"/>
          </a:solidFill>
          <a:ln/>
        </p:spPr>
        <p:txBody>
          <a:bodyPr/>
          <a:lstStyle/>
          <a:p>
            <a:endParaRPr lang="es-PY"/>
          </a:p>
        </p:txBody>
      </p:sp>
      <p:sp>
        <p:nvSpPr>
          <p:cNvPr id="19" name="Text 17"/>
          <p:cNvSpPr/>
          <p:nvPr/>
        </p:nvSpPr>
        <p:spPr>
          <a:xfrm>
            <a:off x="6583680" y="1554480"/>
            <a:ext cx="4846320" cy="365760"/>
          </a:xfrm>
          <a:prstGeom prst="rect">
            <a:avLst/>
          </a:prstGeom>
          <a:noFill/>
          <a:ln/>
        </p:spPr>
        <p:txBody>
          <a:bodyPr wrap="square" lIns="0" tIns="0" rIns="0" bIns="0" rtlCol="0" anchor="ctr"/>
          <a:lstStyle/>
          <a:p>
            <a:pPr marL="0" indent="0">
              <a:buNone/>
            </a:pPr>
            <a:r>
              <a:rPr lang="en-US" sz="1300" b="1" kern="0" spc="400" dirty="0">
                <a:solidFill>
                  <a:srgbClr val="EE6C4D"/>
                </a:solidFill>
                <a:latin typeface="Calibri" pitchFamily="34" charset="0"/>
                <a:ea typeface="Calibri" pitchFamily="34" charset="-122"/>
                <a:cs typeface="Calibri" pitchFamily="34" charset="-120"/>
              </a:rPr>
              <a:t>FUTURE WORK</a:t>
            </a:r>
            <a:endParaRPr lang="en-US" sz="1300" dirty="0"/>
          </a:p>
        </p:txBody>
      </p:sp>
      <p:sp>
        <p:nvSpPr>
          <p:cNvPr id="20" name="Text 18"/>
          <p:cNvSpPr/>
          <p:nvPr/>
        </p:nvSpPr>
        <p:spPr>
          <a:xfrm>
            <a:off x="6583680" y="1965960"/>
            <a:ext cx="484632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Cloud compute (GCP / AWS)</a:t>
            </a:r>
            <a:endParaRPr lang="en-US" sz="1300" dirty="0"/>
          </a:p>
        </p:txBody>
      </p:sp>
      <p:sp>
        <p:nvSpPr>
          <p:cNvPr id="21" name="Text 19"/>
          <p:cNvSpPr/>
          <p:nvPr/>
        </p:nvSpPr>
        <p:spPr>
          <a:xfrm>
            <a:off x="6583680" y="2258568"/>
            <a:ext cx="484632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Train on full 6.9M dataset</a:t>
            </a:r>
            <a:endParaRPr lang="en-US" sz="1100" dirty="0"/>
          </a:p>
        </p:txBody>
      </p:sp>
      <p:sp>
        <p:nvSpPr>
          <p:cNvPr id="22" name="Text 20"/>
          <p:cNvSpPr/>
          <p:nvPr/>
        </p:nvSpPr>
        <p:spPr>
          <a:xfrm>
            <a:off x="6583680" y="2679192"/>
            <a:ext cx="484632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Optuna 100+ trials</a:t>
            </a:r>
            <a:endParaRPr lang="en-US" sz="1300" dirty="0"/>
          </a:p>
        </p:txBody>
      </p:sp>
      <p:sp>
        <p:nvSpPr>
          <p:cNvPr id="23" name="Text 21"/>
          <p:cNvSpPr/>
          <p:nvPr/>
        </p:nvSpPr>
        <p:spPr>
          <a:xfrm>
            <a:off x="6583680" y="2971800"/>
            <a:ext cx="484632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Push F1 above 0.80 with proper tuning</a:t>
            </a:r>
            <a:endParaRPr lang="en-US" sz="1100" dirty="0"/>
          </a:p>
        </p:txBody>
      </p:sp>
      <p:sp>
        <p:nvSpPr>
          <p:cNvPr id="24" name="Text 22"/>
          <p:cNvSpPr/>
          <p:nvPr/>
        </p:nvSpPr>
        <p:spPr>
          <a:xfrm>
            <a:off x="6583680" y="3392424"/>
            <a:ext cx="484632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SMOTE for Sev 1 / Sev 4</a:t>
            </a:r>
            <a:endParaRPr lang="en-US" sz="1300" dirty="0"/>
          </a:p>
        </p:txBody>
      </p:sp>
      <p:sp>
        <p:nvSpPr>
          <p:cNvPr id="25" name="Text 23"/>
          <p:cNvSpPr/>
          <p:nvPr/>
        </p:nvSpPr>
        <p:spPr>
          <a:xfrm>
            <a:off x="6583680" y="3685032"/>
            <a:ext cx="484632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Synthetic samples for minority classes</a:t>
            </a:r>
            <a:endParaRPr lang="en-US" sz="1100" dirty="0"/>
          </a:p>
        </p:txBody>
      </p:sp>
      <p:sp>
        <p:nvSpPr>
          <p:cNvPr id="26" name="Text 24"/>
          <p:cNvSpPr/>
          <p:nvPr/>
        </p:nvSpPr>
        <p:spPr>
          <a:xfrm>
            <a:off x="6583680" y="4105656"/>
            <a:ext cx="484632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Stacking ensemble</a:t>
            </a:r>
            <a:endParaRPr lang="en-US" sz="1300" dirty="0"/>
          </a:p>
        </p:txBody>
      </p:sp>
      <p:sp>
        <p:nvSpPr>
          <p:cNvPr id="27" name="Text 25"/>
          <p:cNvSpPr/>
          <p:nvPr/>
        </p:nvSpPr>
        <p:spPr>
          <a:xfrm>
            <a:off x="6583680" y="4398264"/>
            <a:ext cx="484632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Combine LightGBM + RF predictions</a:t>
            </a:r>
            <a:endParaRPr lang="en-US" sz="1100" dirty="0"/>
          </a:p>
        </p:txBody>
      </p:sp>
      <p:sp>
        <p:nvSpPr>
          <p:cNvPr id="28" name="Text 26"/>
          <p:cNvSpPr/>
          <p:nvPr/>
        </p:nvSpPr>
        <p:spPr>
          <a:xfrm>
            <a:off x="6583680" y="4818888"/>
            <a:ext cx="484632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NLP on Description column</a:t>
            </a:r>
            <a:endParaRPr lang="en-US" sz="1300" dirty="0"/>
          </a:p>
        </p:txBody>
      </p:sp>
      <p:sp>
        <p:nvSpPr>
          <p:cNvPr id="29" name="Text 27"/>
          <p:cNvSpPr/>
          <p:nvPr/>
        </p:nvSpPr>
        <p:spPr>
          <a:xfrm>
            <a:off x="6583680" y="5111496"/>
            <a:ext cx="484632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Extract crash narrative as features</a:t>
            </a:r>
            <a:endParaRPr lang="en-US" sz="1100" dirty="0"/>
          </a:p>
        </p:txBody>
      </p:sp>
      <p:sp>
        <p:nvSpPr>
          <p:cNvPr id="30" name="Text 28"/>
          <p:cNvSpPr/>
          <p:nvPr/>
        </p:nvSpPr>
        <p:spPr>
          <a:xfrm>
            <a:off x="6583680" y="5532120"/>
            <a:ext cx="484632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Geographic clustering</a:t>
            </a:r>
            <a:endParaRPr lang="en-US" sz="1300" dirty="0"/>
          </a:p>
        </p:txBody>
      </p:sp>
      <p:sp>
        <p:nvSpPr>
          <p:cNvPr id="31" name="Text 29"/>
          <p:cNvSpPr/>
          <p:nvPr/>
        </p:nvSpPr>
        <p:spPr>
          <a:xfrm>
            <a:off x="6583680" y="5824728"/>
            <a:ext cx="484632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Encode road segments by historical risk</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2545"/>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EE6C4D"/>
          </a:solidFill>
          <a:ln/>
        </p:spPr>
        <p:txBody>
          <a:bodyPr/>
          <a:lstStyle/>
          <a:p>
            <a:endParaRPr lang="es-PY"/>
          </a:p>
        </p:txBody>
      </p:sp>
      <p:sp>
        <p:nvSpPr>
          <p:cNvPr id="3" name="Text 1"/>
          <p:cNvSpPr/>
          <p:nvPr/>
        </p:nvSpPr>
        <p:spPr>
          <a:xfrm>
            <a:off x="731520" y="457200"/>
            <a:ext cx="10972800" cy="457200"/>
          </a:xfrm>
          <a:prstGeom prst="rect">
            <a:avLst/>
          </a:prstGeom>
          <a:noFill/>
          <a:ln/>
        </p:spPr>
        <p:txBody>
          <a:bodyPr wrap="square" lIns="0" tIns="0" rIns="0" bIns="0" rtlCol="0" anchor="ctr"/>
          <a:lstStyle/>
          <a:p>
            <a:pPr marL="0" indent="0">
              <a:buNone/>
            </a:pPr>
            <a:r>
              <a:rPr lang="en-US" sz="1400" b="1" kern="0" spc="600" dirty="0">
                <a:solidFill>
                  <a:srgbClr val="EE6C4D"/>
                </a:solidFill>
                <a:latin typeface="Calibri" pitchFamily="34" charset="0"/>
                <a:ea typeface="Calibri" pitchFamily="34" charset="-122"/>
                <a:cs typeface="Calibri" pitchFamily="34" charset="-120"/>
              </a:rPr>
              <a:t>CONCLUSIONS</a:t>
            </a:r>
            <a:endParaRPr lang="en-US" sz="1400" dirty="0"/>
          </a:p>
        </p:txBody>
      </p:sp>
      <p:sp>
        <p:nvSpPr>
          <p:cNvPr id="4" name="Text 2"/>
          <p:cNvSpPr/>
          <p:nvPr/>
        </p:nvSpPr>
        <p:spPr>
          <a:xfrm>
            <a:off x="731520" y="868680"/>
            <a:ext cx="10972800" cy="73152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What we learned</a:t>
            </a:r>
            <a:endParaRPr lang="en-US" sz="3600" dirty="0"/>
          </a:p>
        </p:txBody>
      </p:sp>
      <p:sp>
        <p:nvSpPr>
          <p:cNvPr id="5" name="Shape 3"/>
          <p:cNvSpPr/>
          <p:nvPr/>
        </p:nvSpPr>
        <p:spPr>
          <a:xfrm>
            <a:off x="640080" y="1828800"/>
            <a:ext cx="5394960" cy="2011680"/>
          </a:xfrm>
          <a:prstGeom prst="rect">
            <a:avLst/>
          </a:prstGeom>
          <a:solidFill>
            <a:srgbClr val="13315C"/>
          </a:solidFill>
          <a:ln w="12700">
            <a:solidFill>
              <a:srgbClr val="EE6C4D"/>
            </a:solidFill>
            <a:prstDash val="solid"/>
          </a:ln>
        </p:spPr>
        <p:txBody>
          <a:bodyPr/>
          <a:lstStyle/>
          <a:p>
            <a:endParaRPr lang="es-PY"/>
          </a:p>
        </p:txBody>
      </p:sp>
      <p:sp>
        <p:nvSpPr>
          <p:cNvPr id="6" name="Shape 4"/>
          <p:cNvSpPr/>
          <p:nvPr/>
        </p:nvSpPr>
        <p:spPr>
          <a:xfrm>
            <a:off x="914400" y="2103120"/>
            <a:ext cx="502920" cy="502920"/>
          </a:xfrm>
          <a:prstGeom prst="ellipse">
            <a:avLst/>
          </a:prstGeom>
          <a:solidFill>
            <a:srgbClr val="EE6C4D"/>
          </a:solidFill>
          <a:ln/>
        </p:spPr>
        <p:txBody>
          <a:bodyPr/>
          <a:lstStyle/>
          <a:p>
            <a:endParaRPr lang="es-PY"/>
          </a:p>
        </p:txBody>
      </p:sp>
      <p:sp>
        <p:nvSpPr>
          <p:cNvPr id="7" name="Text 5"/>
          <p:cNvSpPr/>
          <p:nvPr/>
        </p:nvSpPr>
        <p:spPr>
          <a:xfrm>
            <a:off x="914400" y="2103120"/>
            <a:ext cx="502920" cy="502920"/>
          </a:xfrm>
          <a:prstGeom prst="rect">
            <a:avLst/>
          </a:prstGeom>
          <a:noFill/>
          <a:ln/>
        </p:spPr>
        <p:txBody>
          <a:bodyPr wrap="square" lIns="0" tIns="0" rIns="0" bIns="0" rtlCol="0" anchor="ctr"/>
          <a:lstStyle/>
          <a:p>
            <a:pPr marL="0" indent="0" algn="ctr">
              <a:buNone/>
            </a:pPr>
            <a:r>
              <a:rPr lang="en-US" sz="1800" b="1" dirty="0">
                <a:solidFill>
                  <a:srgbClr val="0B2545"/>
                </a:solidFill>
                <a:latin typeface="Georgia" pitchFamily="34" charset="0"/>
                <a:ea typeface="Georgia" pitchFamily="34" charset="-122"/>
                <a:cs typeface="Georgia" pitchFamily="34" charset="-120"/>
              </a:rPr>
              <a:t>1</a:t>
            </a:r>
            <a:endParaRPr lang="en-US" sz="1800" dirty="0"/>
          </a:p>
        </p:txBody>
      </p:sp>
      <p:sp>
        <p:nvSpPr>
          <p:cNvPr id="8" name="Text 6"/>
          <p:cNvSpPr/>
          <p:nvPr/>
        </p:nvSpPr>
        <p:spPr>
          <a:xfrm>
            <a:off x="1554480" y="2103120"/>
            <a:ext cx="429768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Problem complexity</a:t>
            </a:r>
            <a:endParaRPr lang="en-US" sz="1600" dirty="0"/>
          </a:p>
        </p:txBody>
      </p:sp>
      <p:sp>
        <p:nvSpPr>
          <p:cNvPr id="9" name="Text 7"/>
          <p:cNvSpPr/>
          <p:nvPr/>
        </p:nvSpPr>
        <p:spPr>
          <a:xfrm>
            <a:off x="914400" y="2743200"/>
            <a:ext cx="4937760" cy="10058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The 0.24 gap between LR (0.52) and LightGBM (0.76) confirms accident severity prediction is a genuinely non-linear problem.</a:t>
            </a:r>
            <a:endParaRPr lang="en-US" sz="1200" dirty="0"/>
          </a:p>
        </p:txBody>
      </p:sp>
      <p:sp>
        <p:nvSpPr>
          <p:cNvPr id="10" name="Shape 8"/>
          <p:cNvSpPr/>
          <p:nvPr/>
        </p:nvSpPr>
        <p:spPr>
          <a:xfrm>
            <a:off x="6309360" y="1828800"/>
            <a:ext cx="5394960" cy="2011680"/>
          </a:xfrm>
          <a:prstGeom prst="rect">
            <a:avLst/>
          </a:prstGeom>
          <a:solidFill>
            <a:srgbClr val="13315C"/>
          </a:solidFill>
          <a:ln w="12700">
            <a:solidFill>
              <a:srgbClr val="EE6C4D"/>
            </a:solidFill>
            <a:prstDash val="solid"/>
          </a:ln>
        </p:spPr>
        <p:txBody>
          <a:bodyPr/>
          <a:lstStyle/>
          <a:p>
            <a:endParaRPr lang="es-PY"/>
          </a:p>
        </p:txBody>
      </p:sp>
      <p:sp>
        <p:nvSpPr>
          <p:cNvPr id="11" name="Shape 9"/>
          <p:cNvSpPr/>
          <p:nvPr/>
        </p:nvSpPr>
        <p:spPr>
          <a:xfrm>
            <a:off x="6583680" y="2103120"/>
            <a:ext cx="502920" cy="502920"/>
          </a:xfrm>
          <a:prstGeom prst="ellipse">
            <a:avLst/>
          </a:prstGeom>
          <a:solidFill>
            <a:srgbClr val="EE6C4D"/>
          </a:solidFill>
          <a:ln/>
        </p:spPr>
        <p:txBody>
          <a:bodyPr/>
          <a:lstStyle/>
          <a:p>
            <a:endParaRPr lang="es-PY"/>
          </a:p>
        </p:txBody>
      </p:sp>
      <p:sp>
        <p:nvSpPr>
          <p:cNvPr id="12" name="Text 10"/>
          <p:cNvSpPr/>
          <p:nvPr/>
        </p:nvSpPr>
        <p:spPr>
          <a:xfrm>
            <a:off x="6583680" y="2103120"/>
            <a:ext cx="502920" cy="502920"/>
          </a:xfrm>
          <a:prstGeom prst="rect">
            <a:avLst/>
          </a:prstGeom>
          <a:noFill/>
          <a:ln/>
        </p:spPr>
        <p:txBody>
          <a:bodyPr wrap="square" lIns="0" tIns="0" rIns="0" bIns="0" rtlCol="0" anchor="ctr"/>
          <a:lstStyle/>
          <a:p>
            <a:pPr marL="0" indent="0" algn="ctr">
              <a:buNone/>
            </a:pPr>
            <a:r>
              <a:rPr lang="en-US" sz="1800" b="1" dirty="0">
                <a:solidFill>
                  <a:srgbClr val="0B2545"/>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7223760" y="2103120"/>
            <a:ext cx="429768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Right metric matters</a:t>
            </a:r>
            <a:endParaRPr lang="en-US" sz="1600" dirty="0"/>
          </a:p>
        </p:txBody>
      </p:sp>
      <p:sp>
        <p:nvSpPr>
          <p:cNvPr id="14" name="Text 12"/>
          <p:cNvSpPr/>
          <p:nvPr/>
        </p:nvSpPr>
        <p:spPr>
          <a:xfrm>
            <a:off x="6583680" y="2743200"/>
            <a:ext cx="4937760" cy="10058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Accuracy is misleading on imbalanced data. Weighted F1 + per-class recall reveals which model truly serves emergency response best.</a:t>
            </a:r>
            <a:endParaRPr lang="en-US" sz="1200" dirty="0"/>
          </a:p>
        </p:txBody>
      </p:sp>
      <p:sp>
        <p:nvSpPr>
          <p:cNvPr id="15" name="Shape 13"/>
          <p:cNvSpPr/>
          <p:nvPr/>
        </p:nvSpPr>
        <p:spPr>
          <a:xfrm>
            <a:off x="640080" y="4069080"/>
            <a:ext cx="5394960" cy="2011680"/>
          </a:xfrm>
          <a:prstGeom prst="rect">
            <a:avLst/>
          </a:prstGeom>
          <a:solidFill>
            <a:srgbClr val="13315C"/>
          </a:solidFill>
          <a:ln w="12700">
            <a:solidFill>
              <a:srgbClr val="EE6C4D"/>
            </a:solidFill>
            <a:prstDash val="solid"/>
          </a:ln>
        </p:spPr>
        <p:txBody>
          <a:bodyPr/>
          <a:lstStyle/>
          <a:p>
            <a:endParaRPr lang="es-PY"/>
          </a:p>
        </p:txBody>
      </p:sp>
      <p:sp>
        <p:nvSpPr>
          <p:cNvPr id="16" name="Shape 14"/>
          <p:cNvSpPr/>
          <p:nvPr/>
        </p:nvSpPr>
        <p:spPr>
          <a:xfrm>
            <a:off x="914400" y="4343400"/>
            <a:ext cx="502920" cy="502920"/>
          </a:xfrm>
          <a:prstGeom prst="ellipse">
            <a:avLst/>
          </a:prstGeom>
          <a:solidFill>
            <a:srgbClr val="EE6C4D"/>
          </a:solidFill>
          <a:ln/>
        </p:spPr>
        <p:txBody>
          <a:bodyPr/>
          <a:lstStyle/>
          <a:p>
            <a:endParaRPr lang="es-PY"/>
          </a:p>
        </p:txBody>
      </p:sp>
      <p:sp>
        <p:nvSpPr>
          <p:cNvPr id="17" name="Text 15"/>
          <p:cNvSpPr/>
          <p:nvPr/>
        </p:nvSpPr>
        <p:spPr>
          <a:xfrm>
            <a:off x="914400" y="4343400"/>
            <a:ext cx="502920" cy="502920"/>
          </a:xfrm>
          <a:prstGeom prst="rect">
            <a:avLst/>
          </a:prstGeom>
          <a:noFill/>
          <a:ln/>
        </p:spPr>
        <p:txBody>
          <a:bodyPr wrap="square" lIns="0" tIns="0" rIns="0" bIns="0" rtlCol="0" anchor="ctr"/>
          <a:lstStyle/>
          <a:p>
            <a:pPr marL="0" indent="0" algn="ctr">
              <a:buNone/>
            </a:pPr>
            <a:r>
              <a:rPr lang="en-US" sz="1800" b="1" dirty="0">
                <a:solidFill>
                  <a:srgbClr val="0B2545"/>
                </a:solidFill>
                <a:latin typeface="Georgia" pitchFamily="34" charset="0"/>
                <a:ea typeface="Georgia" pitchFamily="34" charset="-122"/>
                <a:cs typeface="Georgia" pitchFamily="34" charset="-120"/>
              </a:rPr>
              <a:t>3</a:t>
            </a:r>
            <a:endParaRPr lang="en-US" sz="1800" dirty="0"/>
          </a:p>
        </p:txBody>
      </p:sp>
      <p:sp>
        <p:nvSpPr>
          <p:cNvPr id="18" name="Text 16"/>
          <p:cNvSpPr/>
          <p:nvPr/>
        </p:nvSpPr>
        <p:spPr>
          <a:xfrm>
            <a:off x="1554480" y="4343400"/>
            <a:ext cx="429768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LightGBM wins</a:t>
            </a:r>
            <a:endParaRPr lang="en-US" sz="1600" dirty="0"/>
          </a:p>
        </p:txBody>
      </p:sp>
      <p:sp>
        <p:nvSpPr>
          <p:cNvPr id="19" name="Text 17"/>
          <p:cNvSpPr/>
          <p:nvPr/>
        </p:nvSpPr>
        <p:spPr>
          <a:xfrm>
            <a:off x="914400" y="4983480"/>
            <a:ext cx="4937760" cy="10058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Highest weighted F1 (0.76), best Sev 1 recall (0.95) and best Sev 4 recall (0.80). Trees beat neural nets on tabular data.</a:t>
            </a:r>
            <a:endParaRPr lang="en-US" sz="1200" dirty="0"/>
          </a:p>
        </p:txBody>
      </p:sp>
      <p:sp>
        <p:nvSpPr>
          <p:cNvPr id="20" name="Shape 18"/>
          <p:cNvSpPr/>
          <p:nvPr/>
        </p:nvSpPr>
        <p:spPr>
          <a:xfrm>
            <a:off x="6309360" y="4069080"/>
            <a:ext cx="5394960" cy="2011680"/>
          </a:xfrm>
          <a:prstGeom prst="rect">
            <a:avLst/>
          </a:prstGeom>
          <a:solidFill>
            <a:srgbClr val="13315C"/>
          </a:solidFill>
          <a:ln w="12700">
            <a:solidFill>
              <a:srgbClr val="EE6C4D"/>
            </a:solidFill>
            <a:prstDash val="solid"/>
          </a:ln>
        </p:spPr>
        <p:txBody>
          <a:bodyPr/>
          <a:lstStyle/>
          <a:p>
            <a:endParaRPr lang="es-PY"/>
          </a:p>
        </p:txBody>
      </p:sp>
      <p:sp>
        <p:nvSpPr>
          <p:cNvPr id="21" name="Shape 19"/>
          <p:cNvSpPr/>
          <p:nvPr/>
        </p:nvSpPr>
        <p:spPr>
          <a:xfrm>
            <a:off x="6583680" y="4343400"/>
            <a:ext cx="502920" cy="502920"/>
          </a:xfrm>
          <a:prstGeom prst="ellipse">
            <a:avLst/>
          </a:prstGeom>
          <a:solidFill>
            <a:srgbClr val="EE6C4D"/>
          </a:solidFill>
          <a:ln/>
        </p:spPr>
        <p:txBody>
          <a:bodyPr/>
          <a:lstStyle/>
          <a:p>
            <a:endParaRPr lang="es-PY"/>
          </a:p>
        </p:txBody>
      </p:sp>
      <p:sp>
        <p:nvSpPr>
          <p:cNvPr id="22" name="Text 20"/>
          <p:cNvSpPr/>
          <p:nvPr/>
        </p:nvSpPr>
        <p:spPr>
          <a:xfrm>
            <a:off x="6583680" y="4343400"/>
            <a:ext cx="502920" cy="502920"/>
          </a:xfrm>
          <a:prstGeom prst="rect">
            <a:avLst/>
          </a:prstGeom>
          <a:noFill/>
          <a:ln/>
        </p:spPr>
        <p:txBody>
          <a:bodyPr wrap="square" lIns="0" tIns="0" rIns="0" bIns="0" rtlCol="0" anchor="ctr"/>
          <a:lstStyle/>
          <a:p>
            <a:pPr marL="0" indent="0" algn="ctr">
              <a:buNone/>
            </a:pPr>
            <a:r>
              <a:rPr lang="en-US" sz="1800" b="1" dirty="0">
                <a:solidFill>
                  <a:srgbClr val="0B2545"/>
                </a:solidFill>
                <a:latin typeface="Georgia" pitchFamily="34" charset="0"/>
                <a:ea typeface="Georgia" pitchFamily="34" charset="-122"/>
                <a:cs typeface="Georgia" pitchFamily="34" charset="-120"/>
              </a:rPr>
              <a:t>4</a:t>
            </a:r>
            <a:endParaRPr lang="en-US" sz="1800" dirty="0"/>
          </a:p>
        </p:txBody>
      </p:sp>
      <p:sp>
        <p:nvSpPr>
          <p:cNvPr id="23" name="Text 21"/>
          <p:cNvSpPr/>
          <p:nvPr/>
        </p:nvSpPr>
        <p:spPr>
          <a:xfrm>
            <a:off x="7223760" y="4343400"/>
            <a:ext cx="429768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Class weights &gt; undersampling</a:t>
            </a:r>
            <a:endParaRPr lang="en-US" sz="1600" dirty="0"/>
          </a:p>
        </p:txBody>
      </p:sp>
      <p:sp>
        <p:nvSpPr>
          <p:cNvPr id="24" name="Text 22"/>
          <p:cNvSpPr/>
          <p:nvPr/>
        </p:nvSpPr>
        <p:spPr>
          <a:xfrm>
            <a:off x="6583680" y="4983480"/>
            <a:ext cx="4937760" cy="100584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Weighted training preserved 6.9M rows of real signal and still achieved balanced minority-class performance.</a:t>
            </a:r>
            <a:endParaRPr lang="en-US" sz="1200" dirty="0"/>
          </a:p>
        </p:txBody>
      </p:sp>
      <p:sp>
        <p:nvSpPr>
          <p:cNvPr id="25" name="Text 23"/>
          <p:cNvSpPr/>
          <p:nvPr/>
        </p:nvSpPr>
        <p:spPr>
          <a:xfrm>
            <a:off x="731520" y="6400800"/>
            <a:ext cx="10972800" cy="365760"/>
          </a:xfrm>
          <a:prstGeom prst="rect">
            <a:avLst/>
          </a:prstGeom>
          <a:noFill/>
          <a:ln/>
        </p:spPr>
        <p:txBody>
          <a:bodyPr wrap="square" lIns="0" tIns="0" rIns="0" bIns="0" rtlCol="0" anchor="ctr"/>
          <a:lstStyle/>
          <a:p>
            <a:pPr marL="0" indent="0">
              <a:buNone/>
            </a:pPr>
            <a:r>
              <a:rPr lang="en-US" sz="1300" i="1" dirty="0">
                <a:solidFill>
                  <a:srgbClr val="EE6C4D"/>
                </a:solidFill>
                <a:latin typeface="Calibri" pitchFamily="34" charset="0"/>
                <a:ea typeface="Calibri" pitchFamily="34" charset="-122"/>
                <a:cs typeface="Calibri" pitchFamily="34" charset="-120"/>
              </a:rPr>
              <a:t>Final answer:  LightGBM, with class_weight='balanced', is our recommended model.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545"/>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EE6C4D"/>
          </a:solidFill>
          <a:ln/>
        </p:spPr>
        <p:txBody>
          <a:bodyPr/>
          <a:lstStyle/>
          <a:p>
            <a:endParaRPr lang="es-PY"/>
          </a:p>
        </p:txBody>
      </p:sp>
      <p:sp>
        <p:nvSpPr>
          <p:cNvPr id="3" name="Text 1"/>
          <p:cNvSpPr/>
          <p:nvPr/>
        </p:nvSpPr>
        <p:spPr>
          <a:xfrm>
            <a:off x="731520" y="2286000"/>
            <a:ext cx="10972800" cy="1371600"/>
          </a:xfrm>
          <a:prstGeom prst="rect">
            <a:avLst/>
          </a:prstGeom>
          <a:noFill/>
          <a:ln/>
        </p:spPr>
        <p:txBody>
          <a:bodyPr wrap="square" lIns="0" tIns="0" rIns="0" bIns="0" rtlCol="0" anchor="ctr"/>
          <a:lstStyle/>
          <a:p>
            <a:pPr marL="0" indent="0">
              <a:buNone/>
            </a:pPr>
            <a:r>
              <a:rPr lang="en-US" sz="8000" b="1" dirty="0">
                <a:solidFill>
                  <a:srgbClr val="FFFFFF"/>
                </a:solidFill>
                <a:latin typeface="Georgia" pitchFamily="34" charset="0"/>
                <a:ea typeface="Georgia" pitchFamily="34" charset="-122"/>
                <a:cs typeface="Georgia" pitchFamily="34" charset="-120"/>
              </a:rPr>
              <a:t>Thank you.</a:t>
            </a:r>
            <a:endParaRPr lang="en-US" sz="8000" dirty="0"/>
          </a:p>
        </p:txBody>
      </p:sp>
      <p:sp>
        <p:nvSpPr>
          <p:cNvPr id="4" name="Text 2"/>
          <p:cNvSpPr/>
          <p:nvPr/>
        </p:nvSpPr>
        <p:spPr>
          <a:xfrm>
            <a:off x="731520" y="3657600"/>
            <a:ext cx="10972800" cy="731520"/>
          </a:xfrm>
          <a:prstGeom prst="rect">
            <a:avLst/>
          </a:prstGeom>
          <a:noFill/>
          <a:ln/>
        </p:spPr>
        <p:txBody>
          <a:bodyPr wrap="square" lIns="0" tIns="0" rIns="0" bIns="0" rtlCol="0" anchor="ctr"/>
          <a:lstStyle/>
          <a:p>
            <a:pPr marL="0" indent="0">
              <a:buNone/>
            </a:pPr>
            <a:r>
              <a:rPr lang="en-US" sz="3200" i="1" dirty="0">
                <a:solidFill>
                  <a:srgbClr val="EE6C4D"/>
                </a:solidFill>
                <a:latin typeface="Georgia" pitchFamily="34" charset="0"/>
                <a:ea typeface="Georgia" pitchFamily="34" charset="-122"/>
                <a:cs typeface="Georgia" pitchFamily="34" charset="-120"/>
              </a:rPr>
              <a:t>Questions?</a:t>
            </a:r>
            <a:endParaRPr lang="en-US" sz="3200" dirty="0"/>
          </a:p>
        </p:txBody>
      </p:sp>
      <p:sp>
        <p:nvSpPr>
          <p:cNvPr id="5" name="Text 3"/>
          <p:cNvSpPr/>
          <p:nvPr/>
        </p:nvSpPr>
        <p:spPr>
          <a:xfrm>
            <a:off x="731520" y="6217920"/>
            <a:ext cx="10972800" cy="36576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DATS 6202 — Machine Learning I  •  Spring 2026  •  Final Project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4450</Words>
  <Application>Microsoft Office PowerPoint</Application>
  <PresentationFormat>Widescreen</PresentationFormat>
  <Paragraphs>370</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Accidents Severity Prediction</dc:title>
  <dc:subject>PptxGenJS Presentation</dc:subject>
  <dc:creator>DATS 6202 Final Project</dc:creator>
  <cp:lastModifiedBy>Dani Gómez</cp:lastModifiedBy>
  <cp:revision>1</cp:revision>
  <dcterms:created xsi:type="dcterms:W3CDTF">2026-04-24T21:42:33Z</dcterms:created>
  <dcterms:modified xsi:type="dcterms:W3CDTF">2026-04-24T21:49:23Z</dcterms:modified>
</cp:coreProperties>
</file>